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Poppins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76E06E-0DC1-4D8C-B3FF-78572655B0CB}">
  <a:tblStyle styleId="{EE76E06E-0DC1-4D8C-B3FF-78572655B0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29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3.png"/><Relationship Id="rId5" Type="http://schemas.openxmlformats.org/officeDocument/2006/relationships/image" Target="../media/image26.png"/><Relationship Id="rId6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9" Type="http://schemas.openxmlformats.org/officeDocument/2006/relationships/image" Target="../media/image37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Relationship Id="rId8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9" Type="http://schemas.openxmlformats.org/officeDocument/2006/relationships/image" Target="../media/image52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4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64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59.png"/><Relationship Id="rId5" Type="http://schemas.openxmlformats.org/officeDocument/2006/relationships/image" Target="../media/image6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61.png"/><Relationship Id="rId6" Type="http://schemas.openxmlformats.org/officeDocument/2006/relationships/image" Target="../media/image63.png"/><Relationship Id="rId7" Type="http://schemas.openxmlformats.org/officeDocument/2006/relationships/image" Target="../media/image60.png"/><Relationship Id="rId8" Type="http://schemas.openxmlformats.org/officeDocument/2006/relationships/image" Target="../media/image7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9" Type="http://schemas.openxmlformats.org/officeDocument/2006/relationships/image" Target="../media/image71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58.png"/><Relationship Id="rId8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6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6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69.png"/><Relationship Id="rId9" Type="http://schemas.openxmlformats.org/officeDocument/2006/relationships/image" Target="../media/image78.png"/><Relationship Id="rId5" Type="http://schemas.openxmlformats.org/officeDocument/2006/relationships/image" Target="../media/image76.png"/><Relationship Id="rId6" Type="http://schemas.openxmlformats.org/officeDocument/2006/relationships/image" Target="../media/image70.png"/><Relationship Id="rId7" Type="http://schemas.openxmlformats.org/officeDocument/2006/relationships/image" Target="../media/image73.png"/><Relationship Id="rId8" Type="http://schemas.openxmlformats.org/officeDocument/2006/relationships/image" Target="../media/image7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74.png"/><Relationship Id="rId5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80610" y="2828925"/>
            <a:ext cx="6230778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AWS Lambda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28962" y="4314825"/>
            <a:ext cx="5934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Serverless Computing in AWS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28962" y="5400675"/>
            <a:ext cx="5934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Cloud Architecture &amp; DevOps | 2024-2025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12763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47173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AWS Lambda is a serverless, event-driven compute service that lets you run code for virtually any type of application or backend service.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4062"/>
            <a:ext cx="14097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00125" y="348138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Runs code without managing or provisioning servers.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95763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Scales automatically with application demand.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443388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Ideal for event-driven modern architectures.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491013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Built-in high availability and fault tolerance.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194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9573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719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9482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Introduction to AWS Lambda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52537"/>
            <a:ext cx="528637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71612"/>
            <a:ext cx="5286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29137"/>
            <a:ext cx="52863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529137"/>
            <a:ext cx="52863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62025" y="1643062"/>
            <a:ext cx="473059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No Infrastructure Management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62025" y="266223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There is no need to provision, patch, or maintain servers. AWS handles the entire underlying infrastructure for you.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24650" y="1862137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Automatic Scaling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24650" y="24431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The system scales automatically by running code in parallel to handle precisely the number of incoming requests.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91966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Pay-for-Value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62025" y="550068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You never pay for idle time. You are only charged when your code is running, measured in milliseconds.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24650" y="491966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Event-Driven Nature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724650" y="550068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Resources are consumed only when triggered by specific events like file uploads or database updates.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252412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What is Serverless Computing?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252412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p16"/>
          <p:cNvGraphicFramePr/>
          <p:nvPr/>
        </p:nvGraphicFramePr>
        <p:xfrm>
          <a:off x="571500" y="2333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{EE76E06E-0DC1-4D8C-B3FF-78572655B0CB}</a:tableStyleId>
              </a:tblPr>
              <a:tblGrid>
                <a:gridCol w="1754100"/>
                <a:gridCol w="4818150"/>
                <a:gridCol w="4476750"/>
              </a:tblGrid>
              <a:tr h="63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Traditional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Serverless (Lambda)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Requires manual server patching/OS updates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Zero maintenance; fully managed by AWS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 or rule-based auto-scaling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Instant, transparent automatic 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Pay for uptime (fixed monthly costs)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Pay only for execution (variable)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Maintenance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operational overhead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545B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Focus entirely on application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16"/>
          <p:cNvSpPr/>
          <p:nvPr/>
        </p:nvSpPr>
        <p:spPr>
          <a:xfrm>
            <a:off x="571500" y="2957512"/>
            <a:ext cx="1754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325588" y="2957512"/>
            <a:ext cx="4818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143750" y="2957512"/>
            <a:ext cx="4476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3595687"/>
            <a:ext cx="1754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325588" y="3595687"/>
            <a:ext cx="4818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143750" y="3595687"/>
            <a:ext cx="4476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4233862"/>
            <a:ext cx="1754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2325588" y="4233862"/>
            <a:ext cx="4818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143750" y="4233862"/>
            <a:ext cx="4476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4872037"/>
            <a:ext cx="1754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325588" y="4872037"/>
            <a:ext cx="4818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143750" y="4872037"/>
            <a:ext cx="4476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5510212"/>
            <a:ext cx="17540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325588" y="5510212"/>
            <a:ext cx="48181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143750" y="5510212"/>
            <a:ext cx="4476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Traditional vs. Serverless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2547937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238375"/>
            <a:ext cx="2547937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238375"/>
            <a:ext cx="2547937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238375"/>
            <a:ext cx="2547937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07839" y="3257550"/>
            <a:ext cx="207525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Fully Managed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57250" y="4276725"/>
            <a:ext cx="197643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No operating system or server hardware to worry about.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3641526" y="3257550"/>
            <a:ext cx="207525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Auto Scaling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690937" y="3838575"/>
            <a:ext cx="197643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Scales from 1 to thousands of requests instantly.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475214" y="3257550"/>
            <a:ext cx="207525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Event Driven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24625" y="3838575"/>
            <a:ext cx="197643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Responds to triggers from other AWS services.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308901" y="3257550"/>
            <a:ext cx="207525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Pay-Per-Use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358312" y="3838575"/>
            <a:ext cx="197643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Sub-second metering based on execution time.</a:t>
            </a:r>
            <a:endParaRPr/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6868" y="25717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9131" y="25717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12818" y="25717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17931" y="25717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Key Features of AWS Lambda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0362"/>
            <a:ext cx="243066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900362"/>
            <a:ext cx="243066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2900362"/>
            <a:ext cx="243066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2900362"/>
            <a:ext cx="243066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571500" y="392906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680754" y="3062287"/>
            <a:ext cx="221215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1. Write Code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33425" y="3643312"/>
            <a:ext cx="210681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Upload your code to Lambda as a ZIP or Image.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3553435" y="3062287"/>
            <a:ext cx="221215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2. Configure Trigger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3606105" y="4081462"/>
            <a:ext cx="210681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Set up an event (like an S3 upload).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426115" y="3062287"/>
            <a:ext cx="221215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3. Execution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478785" y="3643312"/>
            <a:ext cx="210681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Lambda spins up environment and runs code.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298796" y="3062287"/>
            <a:ext cx="221215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4. Cleanup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351466" y="3643312"/>
            <a:ext cx="210681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Result returned; environment is reclaimed.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How AWS Lambda Works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1000125" y="30527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Event Source: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The external trigger (S3, API GW).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000125" y="35290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Function: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The logic processing the input event.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000125" y="40052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Env: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Isolated compute workspace (Firecracker).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000125" y="44815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The result sent back or saved.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90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671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433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5196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AWS Lambda Architecture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8362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138362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138362"/>
            <a:ext cx="35560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571500" y="52911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*Custom runtimes (Rust, PHP, etc.) are supported via the Lambda Runtime API.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482601" y="4519612"/>
            <a:ext cx="37337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Python &amp; Node.js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229051" y="4519612"/>
            <a:ext cx="373374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Java &amp; .NET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975498" y="4519612"/>
            <a:ext cx="373390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Go &amp; Ruby</a:t>
            </a:r>
            <a:endParaRPr/>
          </a:p>
        </p:txBody>
      </p:sp>
      <p:pic>
        <p:nvPicPr>
          <p:cNvPr descr="image.png" id="221" name="Google Shape;22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138362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7950" y="2138362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400" y="2138362"/>
            <a:ext cx="35560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Supported Programming Languages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1000125" y="30527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Amazon S3: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File uploads, deletions, and metadata updates.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00125" y="35290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API Gateway: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HTTP requests and REST/WebSocket APIs.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000125" y="40052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DynamoDB: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Changes in database records (Streams).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000125" y="44815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SNS/SQS: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Messaging and queue-based async processing.</a:t>
            </a:r>
            <a:endParaRPr/>
          </a:p>
        </p:txBody>
      </p:sp>
      <p:pic>
        <p:nvPicPr>
          <p:cNvPr descr="image.png" id="237" name="Google Shape;23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908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671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43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5196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AWS Lambda Event Sources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0325"/>
            <a:ext cx="3492549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00325"/>
            <a:ext cx="3492549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00325"/>
            <a:ext cx="3492549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784223" y="3619500"/>
            <a:ext cx="30671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File Analysis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57250" y="4200525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Process S3 logs or images automatically on upload.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4562523" y="3619500"/>
            <a:ext cx="30671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Mobile Backend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4635549" y="4200525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Power REST APIs via Amazon API Gateway.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8340822" y="3619500"/>
            <a:ext cx="30671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Monitoring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8413849" y="4200525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Send logs and custom metrics to CloudWatch.</a:t>
            </a:r>
            <a:endParaRPr/>
          </a:p>
        </p:txBody>
      </p:sp>
      <p:pic>
        <p:nvPicPr>
          <p:cNvPr descr="image.png" id="257" name="Google Shape;25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6250" y="293370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93370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9337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Service Integration Ecosystem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4487"/>
            <a:ext cx="52863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14487"/>
            <a:ext cx="52863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67187"/>
            <a:ext cx="52863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167187"/>
            <a:ext cx="52863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962025" y="200501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Function Code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962025" y="25860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The business logic you provide, along with any external libraries or dependencies required.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724650" y="200501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Runtime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724650" y="25860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The execution environment (e.g. Python 3.12) that runs your code inside the container.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962025" y="455771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Memory Config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962025" y="51387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Scales from 128 MB to 10 GB. More memory allocates more CPU power to the function.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724650" y="455771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Timeout Limit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724650" y="51387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The maximum time your code can run. Configurable from 1 second up to 15 minutes.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Core Function Components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6334125" y="2562225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Lifecycle Steps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334125" y="31432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When an event occurs, Lambda finds or initializes an execution environment.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762750" y="386715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Init: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Environment setup (Cold Start).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762750" y="434340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Invoke: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Logic executes on event data.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762750" y="481965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Shutdown: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Releasing resources after idle time.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Execution Model Lifecycle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1000125" y="30527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Zero Admin: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Total focus on product code, not patching or OS management.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000125" y="352901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Hyperscale: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Effortlessly handles sudden spikes in traffic without manual capacity planning.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000125" y="40052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Cost Effective: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Sub-second billing ensures you pay only for exactly what you use.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1000125" y="448151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Isolated execution environments and fine-grained IAM permissions for every function.</a:t>
            </a:r>
            <a:endParaRPr/>
          </a:p>
        </p:txBody>
      </p:sp>
      <p:pic>
        <p:nvPicPr>
          <p:cNvPr descr="image.png" id="304" name="Google Shape;30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90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671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43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196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Advantages of AWS Lambda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8737"/>
            <a:ext cx="5286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28737"/>
            <a:ext cx="5286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10062"/>
            <a:ext cx="52863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167187"/>
            <a:ext cx="52863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 txBox="1"/>
          <p:nvPr/>
        </p:nvSpPr>
        <p:spPr>
          <a:xfrm>
            <a:off x="962025" y="171926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Execution Time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962025" y="230028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Maximum timeout of 15 minutes makes it unsuitable for long-running batch processes or complex deep learning training.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6724650" y="171926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Cold Starts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6724650" y="230028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The initial invocation latency when the environment is created can impact real-time latency-sensitive applications.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962025" y="4700587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Environment Control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962025" y="5281612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Limited control over the underlying operating system and specific hardware configurations compared to EC2.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6724650" y="4557712"/>
            <a:ext cx="47305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Local Storage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6724650" y="513873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Limited ephemeral storage (/tmp) of up to 10 GB, which is erased after the execution environment is destroyed.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762000" y="328612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Limitations &amp; Challenges</a:t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571500" y="328612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571500" y="42529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Pricing is based on two primary factors: </a:t>
            </a: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Requests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Duration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(Execution Time).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571500" y="2071687"/>
            <a:ext cx="11049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1 Million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571500" y="3500437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Free Requests per Month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4314825" y="4833937"/>
            <a:ext cx="7305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Requests: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$0.20 per million requests.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4314825" y="5310187"/>
            <a:ext cx="7305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Duration: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Cost per GB-second of compute.</a:t>
            </a:r>
            <a:endParaRPr/>
          </a:p>
        </p:txBody>
      </p:sp>
      <p:pic>
        <p:nvPicPr>
          <p:cNvPr descr="image.png" id="339" name="Google Shape;33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48720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53482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AWS Lambda Pricing Model</a:t>
            </a:r>
            <a:endParaRPr/>
          </a:p>
        </p:txBody>
      </p:sp>
      <p:sp>
        <p:nvSpPr>
          <p:cNvPr id="342" name="Google Shape;342;p2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 txBox="1"/>
          <p:nvPr/>
        </p:nvSpPr>
        <p:spPr>
          <a:xfrm>
            <a:off x="571500" y="2919412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Key Tools</a:t>
            </a:r>
            <a:endParaRPr/>
          </a:p>
        </p:txBody>
      </p:sp>
      <p:pic>
        <p:nvPicPr>
          <p:cNvPr descr="image.png" id="350" name="Google Shape;35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8"/>
          <p:cNvSpPr txBox="1"/>
          <p:nvPr/>
        </p:nvSpPr>
        <p:spPr>
          <a:xfrm>
            <a:off x="1000125" y="35099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CloudWatch Logs: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Automatic standard output log capture.</a:t>
            </a:r>
            <a:endParaRPr/>
          </a:p>
        </p:txBody>
      </p:sp>
      <p:sp>
        <p:nvSpPr>
          <p:cNvPr id="352" name="Google Shape;352;p28"/>
          <p:cNvSpPr txBox="1"/>
          <p:nvPr/>
        </p:nvSpPr>
        <p:spPr>
          <a:xfrm>
            <a:off x="1000125" y="39862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CloudWatch Metrics: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Track Errors, Duration, and Success.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1000125" y="44624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AWS X-Ray: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End-to-end tracing for distributed apps.</a:t>
            </a:r>
            <a:endParaRPr/>
          </a:p>
        </p:txBody>
      </p:sp>
      <p:pic>
        <p:nvPicPr>
          <p:cNvPr descr="image.png" id="354" name="Google Shape;35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8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243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005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</a:t>
            </a:r>
            <a:endParaRPr/>
          </a:p>
        </p:txBody>
      </p:sp>
      <p:sp>
        <p:nvSpPr>
          <p:cNvPr id="358" name="Google Shape;358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0325"/>
            <a:ext cx="3492549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00325"/>
            <a:ext cx="3492549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00325"/>
            <a:ext cx="3492549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9"/>
          <p:cNvSpPr txBox="1"/>
          <p:nvPr/>
        </p:nvSpPr>
        <p:spPr>
          <a:xfrm>
            <a:off x="784223" y="3619500"/>
            <a:ext cx="30671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IAM Roles</a:t>
            </a:r>
            <a:endParaRPr/>
          </a:p>
        </p:txBody>
      </p:sp>
      <p:sp>
        <p:nvSpPr>
          <p:cNvPr id="368" name="Google Shape;368;p29"/>
          <p:cNvSpPr txBox="1"/>
          <p:nvPr/>
        </p:nvSpPr>
        <p:spPr>
          <a:xfrm>
            <a:off x="857250" y="4200525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Use Least Privilege Principle for every function.</a:t>
            </a:r>
            <a:endParaRPr/>
          </a:p>
        </p:txBody>
      </p:sp>
      <p:sp>
        <p:nvSpPr>
          <p:cNvPr id="369" name="Google Shape;369;p29"/>
          <p:cNvSpPr txBox="1"/>
          <p:nvPr/>
        </p:nvSpPr>
        <p:spPr>
          <a:xfrm>
            <a:off x="4562523" y="3619500"/>
            <a:ext cx="30671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Encryption</a:t>
            </a:r>
            <a:endParaRPr/>
          </a:p>
        </p:txBody>
      </p:sp>
      <p:sp>
        <p:nvSpPr>
          <p:cNvPr id="370" name="Google Shape;370;p29"/>
          <p:cNvSpPr txBox="1"/>
          <p:nvPr/>
        </p:nvSpPr>
        <p:spPr>
          <a:xfrm>
            <a:off x="4635549" y="4200525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Encrypt environment variables at rest using KMS.</a:t>
            </a:r>
            <a:endParaRPr/>
          </a:p>
        </p:txBody>
      </p:sp>
      <p:sp>
        <p:nvSpPr>
          <p:cNvPr id="371" name="Google Shape;371;p29"/>
          <p:cNvSpPr txBox="1"/>
          <p:nvPr/>
        </p:nvSpPr>
        <p:spPr>
          <a:xfrm>
            <a:off x="8340822" y="3619500"/>
            <a:ext cx="306710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VPC Integration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8413849" y="4200525"/>
            <a:ext cx="29210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Connect to private resources like RDS or ElastiCache.</a:t>
            </a:r>
            <a:endParaRPr/>
          </a:p>
        </p:txBody>
      </p:sp>
      <p:pic>
        <p:nvPicPr>
          <p:cNvPr descr="image.png" id="373" name="Google Shape;373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9337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9337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9337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Security Best Practices</a:t>
            </a:r>
            <a:endParaRPr/>
          </a:p>
        </p:txBody>
      </p:sp>
      <p:sp>
        <p:nvSpPr>
          <p:cNvPr id="377" name="Google Shape;377;p2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0"/>
          <p:cNvSpPr txBox="1"/>
          <p:nvPr/>
        </p:nvSpPr>
        <p:spPr>
          <a:xfrm>
            <a:off x="762000" y="1252537"/>
            <a:ext cx="535066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Real-World Use Case</a:t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571500" y="1252537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 txBox="1"/>
          <p:nvPr/>
        </p:nvSpPr>
        <p:spPr>
          <a:xfrm>
            <a:off x="571500" y="2252662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Image Processing Pipeline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571500" y="283368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 classic serverless architecture where users upload high-resolution images to S3, triggering an automated workflow.</a:t>
            </a:r>
            <a:endParaRPr/>
          </a:p>
        </p:txBody>
      </p:sp>
      <p:pic>
        <p:nvPicPr>
          <p:cNvPr descr="image.png" id="387" name="Google Shape;38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0"/>
          <p:cNvSpPr txBox="1"/>
          <p:nvPr/>
        </p:nvSpPr>
        <p:spPr>
          <a:xfrm>
            <a:off x="1000125" y="37004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Trigger: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New file uploaded to S3.</a:t>
            </a:r>
            <a:endParaRPr/>
          </a:p>
        </p:txBody>
      </p:sp>
      <p:sp>
        <p:nvSpPr>
          <p:cNvPr id="389" name="Google Shape;389;p30"/>
          <p:cNvSpPr txBox="1"/>
          <p:nvPr/>
        </p:nvSpPr>
        <p:spPr>
          <a:xfrm>
            <a:off x="1000125" y="41767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Action: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Lambda resizes the image.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1000125" y="46529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Thumbnails saved to a second bucket.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1000125" y="512921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Impact: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Massive scale without server overhead.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1"/>
          <p:cNvSpPr txBox="1"/>
          <p:nvPr/>
        </p:nvSpPr>
        <p:spPr>
          <a:xfrm>
            <a:off x="1000125" y="281463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One Function, One Task: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Keep functions small, modular, and focused.</a:t>
            </a:r>
            <a:endParaRPr/>
          </a:p>
        </p:txBody>
      </p:sp>
      <p:sp>
        <p:nvSpPr>
          <p:cNvPr id="398" name="Google Shape;398;p31"/>
          <p:cNvSpPr txBox="1"/>
          <p:nvPr/>
        </p:nvSpPr>
        <p:spPr>
          <a:xfrm>
            <a:off x="1000125" y="329088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Optimize Memory: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Right-size memory to balance cost and speed.</a:t>
            </a:r>
            <a:endParaRPr/>
          </a:p>
        </p:txBody>
      </p:sp>
      <p:sp>
        <p:nvSpPr>
          <p:cNvPr id="399" name="Google Shape;399;p31"/>
          <p:cNvSpPr txBox="1"/>
          <p:nvPr/>
        </p:nvSpPr>
        <p:spPr>
          <a:xfrm>
            <a:off x="1000125" y="376713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Dependency Management: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Use Lambda Layers for shared code and libraries.</a:t>
            </a:r>
            <a:endParaRPr/>
          </a:p>
        </p:txBody>
      </p:sp>
      <p:sp>
        <p:nvSpPr>
          <p:cNvPr id="400" name="Google Shape;400;p31"/>
          <p:cNvSpPr txBox="1"/>
          <p:nvPr/>
        </p:nvSpPr>
        <p:spPr>
          <a:xfrm>
            <a:off x="1000125" y="424338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Cold Start Tuning: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Minimize initialization code and use Provisioned Concurrency.</a:t>
            </a:r>
            <a:endParaRPr/>
          </a:p>
        </p:txBody>
      </p:sp>
      <p:sp>
        <p:nvSpPr>
          <p:cNvPr id="401" name="Google Shape;401;p31"/>
          <p:cNvSpPr txBox="1"/>
          <p:nvPr/>
        </p:nvSpPr>
        <p:spPr>
          <a:xfrm>
            <a:off x="1000125" y="4719637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Error Handling:</a:t>
            </a: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Implement dead-letter queues (DLQ) for failed events.</a:t>
            </a:r>
            <a:endParaRPr/>
          </a:p>
        </p:txBody>
      </p:sp>
      <p:pic>
        <p:nvPicPr>
          <p:cNvPr descr="image.png" id="402" name="Google Shape;40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27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28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052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81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577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Summary of Best Practices</a:t>
            </a:r>
            <a:endParaRPr/>
          </a:p>
        </p:txBody>
      </p:sp>
      <p:sp>
        <p:nvSpPr>
          <p:cNvPr id="408" name="Google Shape;408;p3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3" name="Google Shape;4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2"/>
          <p:cNvSpPr txBox="1"/>
          <p:nvPr/>
        </p:nvSpPr>
        <p:spPr>
          <a:xfrm>
            <a:off x="295275" y="92392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415" name="Google Shape;415;p32"/>
          <p:cNvSpPr txBox="1"/>
          <p:nvPr/>
        </p:nvSpPr>
        <p:spPr>
          <a:xfrm>
            <a:off x="2286000" y="2447925"/>
            <a:ext cx="762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AWS Lambda simplifies application development and enables high-performance, event-driven architectures at scale.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571500" y="4200525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Thank you for your attention! Questions?</a:t>
            </a:r>
            <a:endParaRPr/>
          </a:p>
        </p:txBody>
      </p:sp>
      <p:pic>
        <p:nvPicPr>
          <p:cNvPr descr="image.png" id="417" name="Google Shape;41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4953000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2" name="Google Shape;4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3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571500" y="3162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571500" y="39338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571500" y="47053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571500" y="4695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571500" y="4695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571500" y="5467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571500" y="5467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8" name="Google Shape;43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13239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3"/>
          <p:cNvSpPr txBox="1"/>
          <p:nvPr/>
        </p:nvSpPr>
        <p:spPr>
          <a:xfrm>
            <a:off x="1666875" y="17692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https://upload.wikimedia.org/wikipedia/commons/thumb/5/5c/Amazon_Lambda_architecture_logo.svg/250px-Amazon_Lambda_architecture_logo.svg.png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1666875" y="20026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pic>
        <p:nvPicPr>
          <p:cNvPr descr="image.png" id="441" name="Google Shape;44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3"/>
          <p:cNvSpPr txBox="1"/>
          <p:nvPr/>
        </p:nvSpPr>
        <p:spPr>
          <a:xfrm>
            <a:off x="1666875" y="25407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https://www.kofi-group.com/wp-content/uploads/2021/03/shutterstock_1609164064-scaled-1.jpg</a:t>
            </a:r>
            <a:endParaRPr/>
          </a:p>
        </p:txBody>
      </p:sp>
      <p:sp>
        <p:nvSpPr>
          <p:cNvPr id="443" name="Google Shape;443;p33"/>
          <p:cNvSpPr txBox="1"/>
          <p:nvPr/>
        </p:nvSpPr>
        <p:spPr>
          <a:xfrm>
            <a:off x="1666875" y="27741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www.kofi-group.com</a:t>
            </a:r>
            <a:endParaRPr/>
          </a:p>
        </p:txBody>
      </p:sp>
      <p:pic>
        <p:nvPicPr>
          <p:cNvPr descr="image.png" id="444" name="Google Shape;44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05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3"/>
          <p:cNvSpPr txBox="1"/>
          <p:nvPr/>
        </p:nvSpPr>
        <p:spPr>
          <a:xfrm>
            <a:off x="1666875" y="33123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https://miro.medium.com/0*Z2CIpyONVOd0BGkl.png</a:t>
            </a:r>
            <a:endParaRPr/>
          </a:p>
        </p:txBody>
      </p:sp>
      <p:sp>
        <p:nvSpPr>
          <p:cNvPr id="446" name="Google Shape;446;p33"/>
          <p:cNvSpPr txBox="1"/>
          <p:nvPr/>
        </p:nvSpPr>
        <p:spPr>
          <a:xfrm>
            <a:off x="1666875" y="35456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itnext.io</a:t>
            </a:r>
            <a:endParaRPr/>
          </a:p>
        </p:txBody>
      </p:sp>
      <p:pic>
        <p:nvPicPr>
          <p:cNvPr descr="image.png" id="447" name="Google Shape;44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76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3"/>
          <p:cNvSpPr txBox="1"/>
          <p:nvPr/>
        </p:nvSpPr>
        <p:spPr>
          <a:xfrm>
            <a:off x="1666875" y="40838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https://contentstatic.techgig.com/photo/67337479.cms</a:t>
            </a:r>
            <a:endParaRPr/>
          </a:p>
        </p:txBody>
      </p:sp>
      <p:sp>
        <p:nvSpPr>
          <p:cNvPr id="449" name="Google Shape;449;p33"/>
          <p:cNvSpPr txBox="1"/>
          <p:nvPr/>
        </p:nvSpPr>
        <p:spPr>
          <a:xfrm>
            <a:off x="1666875" y="43172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content.techgig.com</a:t>
            </a:r>
            <a:endParaRPr/>
          </a:p>
        </p:txBody>
      </p:sp>
      <p:pic>
        <p:nvPicPr>
          <p:cNvPr descr="image.png" id="450" name="Google Shape;450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48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3"/>
          <p:cNvSpPr txBox="1"/>
          <p:nvPr/>
        </p:nvSpPr>
        <p:spPr>
          <a:xfrm>
            <a:off x="1666875" y="48553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https://images.ctfassets.net/w6r2i5d8q73s/1mdrT2mU09TpfTPZSEr9v2/585f7580282ed25b57d015c9a10ffa18/4.png?fm=webp&amp;q=75</a:t>
            </a:r>
            <a:endParaRPr/>
          </a:p>
        </p:txBody>
      </p:sp>
      <p:sp>
        <p:nvSpPr>
          <p:cNvPr id="452" name="Google Shape;452;p33"/>
          <p:cNvSpPr txBox="1"/>
          <p:nvPr/>
        </p:nvSpPr>
        <p:spPr>
          <a:xfrm>
            <a:off x="1666875" y="50887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miro.com</a:t>
            </a:r>
            <a:endParaRPr/>
          </a:p>
        </p:txBody>
      </p:sp>
      <p:pic>
        <p:nvPicPr>
          <p:cNvPr descr="image.png" id="453" name="Google Shape;453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19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3"/>
          <p:cNvSpPr txBox="1"/>
          <p:nvPr/>
        </p:nvSpPr>
        <p:spPr>
          <a:xfrm>
            <a:off x="1666875" y="56268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https://miro.medium.com/1*Uu8iAjeWqmCP0nhrf5KG9w.png</a:t>
            </a:r>
            <a:endParaRPr/>
          </a:p>
        </p:txBody>
      </p:sp>
      <p:sp>
        <p:nvSpPr>
          <p:cNvPr id="455" name="Google Shape;455;p33"/>
          <p:cNvSpPr txBox="1"/>
          <p:nvPr/>
        </p:nvSpPr>
        <p:spPr>
          <a:xfrm>
            <a:off x="1666875" y="58602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aws.plainenglish.io</a:t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2" name="Google Shape;4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4"/>
          <p:cNvSpPr/>
          <p:nvPr/>
        </p:nvSpPr>
        <p:spPr>
          <a:xfrm>
            <a:off x="571500" y="3162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571500" y="3924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6" name="Google Shape;46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05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4"/>
          <p:cNvSpPr txBox="1"/>
          <p:nvPr/>
        </p:nvSpPr>
        <p:spPr>
          <a:xfrm>
            <a:off x="1666875" y="33123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https://docs.aws.amazon.com/images/AmazonCloudWatch/latest/monitoring/images/CW-default-dashboard-update.png</a:t>
            </a: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1666875" y="35456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docs.aws.amazon.com</a:t>
            </a:r>
            <a:endParaRPr/>
          </a:p>
        </p:txBody>
      </p:sp>
      <p:pic>
        <p:nvPicPr>
          <p:cNvPr descr="image.png" id="469" name="Google Shape;46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6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4"/>
          <p:cNvSpPr txBox="1"/>
          <p:nvPr/>
        </p:nvSpPr>
        <p:spPr>
          <a:xfrm>
            <a:off x="1666875" y="40838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https://lumenci.com/wp-content/uploads/2024/03/Digital-Image-Processing-Banner-1024x576.webp</a:t>
            </a:r>
            <a:endParaRPr/>
          </a:p>
        </p:txBody>
      </p:sp>
      <p:sp>
        <p:nvSpPr>
          <p:cNvPr id="471" name="Google Shape;471;p34"/>
          <p:cNvSpPr txBox="1"/>
          <p:nvPr/>
        </p:nvSpPr>
        <p:spPr>
          <a:xfrm>
            <a:off x="1666875" y="43172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lumenci.com</a:t>
            </a:r>
            <a:endParaRPr/>
          </a:p>
        </p:txBody>
      </p:sp>
      <p:sp>
        <p:nvSpPr>
          <p:cNvPr id="472" name="Google Shape;472;p3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473" name="Google Shape;473;p3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