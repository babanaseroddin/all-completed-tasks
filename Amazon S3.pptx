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281" r:id="rId23"/>
  </p:sldIdLst>
  <p:sldSz cx="12192000" cy="6858000"/>
  <p:notesSz cx="6858000" cy="9144000"/>
  <p:embeddedFontLs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  <p:embeddedFont>
      <p:font typeface="Poppins SemiBold" panose="000007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296855-A6D2-478E-A4FD-3BA71ED8A030}">
  <a:tblStyle styleId="{A7296855-A6D2-478E-A4FD-3BA71ED8A03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roddin baba" userId="3d31b25fe7691ce1" providerId="LiveId" clId="{2CDD16C3-32BE-4282-AD6F-36B9E582E20C}"/>
    <pc:docChg chg="modSld">
      <pc:chgData name="naseroddin baba" userId="3d31b25fe7691ce1" providerId="LiveId" clId="{2CDD16C3-32BE-4282-AD6F-36B9E582E20C}" dt="2026-03-12T04:12:46.883" v="4" actId="1036"/>
      <pc:docMkLst>
        <pc:docMk/>
      </pc:docMkLst>
      <pc:sldChg chg="modSp mod">
        <pc:chgData name="naseroddin baba" userId="3d31b25fe7691ce1" providerId="LiveId" clId="{2CDD16C3-32BE-4282-AD6F-36B9E582E20C}" dt="2026-03-11T13:40:59.776" v="1" actId="20577"/>
        <pc:sldMkLst>
          <pc:docMk/>
          <pc:sldMk cId="0" sldId="256"/>
        </pc:sldMkLst>
        <pc:spChg chg="mod">
          <ac:chgData name="naseroddin baba" userId="3d31b25fe7691ce1" providerId="LiveId" clId="{2CDD16C3-32BE-4282-AD6F-36B9E582E20C}" dt="2026-03-11T13:40:59.776" v="1" actId="20577"/>
          <ac:spMkLst>
            <pc:docMk/>
            <pc:sldMk cId="0" sldId="256"/>
            <ac:spMk id="88" creationId="{00000000-0000-0000-0000-000000000000}"/>
          </ac:spMkLst>
        </pc:spChg>
      </pc:sldChg>
      <pc:sldChg chg="modSp mod">
        <pc:chgData name="naseroddin baba" userId="3d31b25fe7691ce1" providerId="LiveId" clId="{2CDD16C3-32BE-4282-AD6F-36B9E582E20C}" dt="2026-03-12T03:49:44.992" v="2" actId="1036"/>
        <pc:sldMkLst>
          <pc:docMk/>
          <pc:sldMk cId="0" sldId="266"/>
        </pc:sldMkLst>
        <pc:picChg chg="mod">
          <ac:chgData name="naseroddin baba" userId="3d31b25fe7691ce1" providerId="LiveId" clId="{2CDD16C3-32BE-4282-AD6F-36B9E582E20C}" dt="2026-03-12T03:49:44.992" v="2" actId="1036"/>
          <ac:picMkLst>
            <pc:docMk/>
            <pc:sldMk cId="0" sldId="266"/>
            <ac:picMk id="249" creationId="{00000000-0000-0000-0000-000000000000}"/>
          </ac:picMkLst>
        </pc:picChg>
      </pc:sldChg>
      <pc:sldChg chg="modSp mod">
        <pc:chgData name="naseroddin baba" userId="3d31b25fe7691ce1" providerId="LiveId" clId="{2CDD16C3-32BE-4282-AD6F-36B9E582E20C}" dt="2026-03-12T04:12:46.883" v="4" actId="1036"/>
        <pc:sldMkLst>
          <pc:docMk/>
          <pc:sldMk cId="0" sldId="276"/>
        </pc:sldMkLst>
        <pc:picChg chg="mod">
          <ac:chgData name="naseroddin baba" userId="3d31b25fe7691ce1" providerId="LiveId" clId="{2CDD16C3-32BE-4282-AD6F-36B9E582E20C}" dt="2026-03-12T04:12:46.883" v="4" actId="1036"/>
          <ac:picMkLst>
            <pc:docMk/>
            <pc:sldMk cId="0" sldId="276"/>
            <ac:picMk id="40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850802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Amazon S3 Masterclass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11773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Cloud Object Storage in AWS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883348"/>
            <a:ext cx="11049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Presented by: </a:t>
            </a:r>
            <a:r>
              <a:rPr lang="en-US" sz="1800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Naseroddin</a:t>
            </a:r>
            <a:r>
              <a:rPr lang="en-US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Baba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Date: March 11</a:t>
            </a: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88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428750"/>
            <a:ext cx="1121000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Amazon S3 (Simple Storage Service) is a foundational AWS service that provides developers and IT teams with secure, durable, and highly-scalable object storage.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209368" y="2619375"/>
            <a:ext cx="863272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Scalability: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Store and retrieve any amount of data.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111045" y="3721978"/>
            <a:ext cx="653845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Availability: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Accessible from anywhere on the web.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1209368" y="4611329"/>
            <a:ext cx="892769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Cases: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Backup &amp; recovery, data lakes, cloud-native apps, and static websites.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Introduction to Amazon S3</a:t>
            </a:r>
            <a:endParaRPr dirty="0"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3956" y="256715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" y="372197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352" y="471257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1650"/>
            <a:ext cx="3492400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771650"/>
            <a:ext cx="3492549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771650"/>
            <a:ext cx="3492400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84239" y="2914650"/>
            <a:ext cx="28669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Object Storage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3457575"/>
            <a:ext cx="27304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Unlike file or block storage, S3 manages data as objects. Each object includes the data itself, some metadata, and a unique identifier.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62387" y="291465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Unlimited Data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30650" y="3457575"/>
            <a:ext cx="2730549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There is no limit to the amount of data you can store. Individual objects can range from 0 bytes to 5 terabytes.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40690" y="2914650"/>
            <a:ext cx="28669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High Durability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08950" y="3457575"/>
            <a:ext cx="2730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Designed for 99.999999999% (11 9's) of durability, ensuring your data is protected against hardware failure.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9575" y="22002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95813" y="220027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025" y="2200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Amazon S3?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1943100"/>
            <a:ext cx="1101335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bucket is a fundamental container for objects stored in Amazon S3. Think of it as a root folder in the cloud.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1000125" y="3124200"/>
            <a:ext cx="1015948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Globally Unique: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Bucket names must be unique across all AWS accounts globally.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1000125" y="4048125"/>
            <a:ext cx="10620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Region Specific: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You specify the AWS Region where the bucket resides.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1000125" y="4972050"/>
            <a:ext cx="969737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Examples: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my-travel-photos-2024, company-backup-bucket-v1.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an S3 Bucket?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242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481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0774" y="504168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4550"/>
            <a:ext cx="34924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14550"/>
            <a:ext cx="3492549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14550"/>
            <a:ext cx="34924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84239" y="3257550"/>
            <a:ext cx="28669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Bucket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800475"/>
            <a:ext cx="273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top-level container that holds all your objects. It defines the region and access rules.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62387" y="325755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Object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730650" y="3800475"/>
            <a:ext cx="273054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actual file you upload (e.g., photo, video, PDF). It is stored with a unique key (name).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440690" y="3257550"/>
            <a:ext cx="28669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Metadata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08950" y="3800475"/>
            <a:ext cx="2730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Additional info about the file (e.g., date created, content type, owner info).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9575" y="25431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14876" y="2543175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025" y="25431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S3 Storage Concepts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1000125" y="2662237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Scalability: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Automatically scales to meet your needs.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000125" y="3586162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Durability: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11 9's of durability.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000125" y="4167187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Availability: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99.99% availability over a year.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715125" y="2662237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Granular access controls and encryption.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15125" y="3586162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Flexible Classes: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Optimize costs with different storage tiers.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715125" y="4510087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Event Notifications: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Trigger AWS Lambda functions when data changes.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Features of Amazon S3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622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861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671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622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5861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51008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71499" y="2295525"/>
            <a:ext cx="1127637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Versioning allows you to keep multiple variants of an object in the same bucket.</a:t>
            </a:r>
            <a:endParaRPr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1000125" y="3133725"/>
            <a:ext cx="876330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Recover Accidental Deletes: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Easily restore a previous version.</a:t>
            </a:r>
            <a:endParaRPr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1000125" y="4057650"/>
            <a:ext cx="928441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Protect Overwrites: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New uploads create a new version instead of replacing the old one.</a:t>
            </a:r>
            <a:endParaRPr dirty="0"/>
          </a:p>
        </p:txBody>
      </p:sp>
      <p:sp>
        <p:nvSpPr>
          <p:cNvPr id="205" name="Google Shape;205;p20"/>
          <p:cNvSpPr txBox="1"/>
          <p:nvPr/>
        </p:nvSpPr>
        <p:spPr>
          <a:xfrm>
            <a:off x="1000125" y="4981575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State: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Can be Enabled, Suspended, or Disabled.</a:t>
            </a:r>
            <a:endParaRPr dirty="0"/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 Versioning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37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576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8157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571500" y="4467225"/>
            <a:ext cx="1104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Public access is blocked at the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Account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Bucket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level. You must explicitly disable these blocks if you intend to host a public website or share files publicly.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47699" y="2251587"/>
            <a:ext cx="4101281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 dirty="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OFF</a:t>
            </a:r>
            <a:endParaRPr dirty="0"/>
          </a:p>
        </p:txBody>
      </p:sp>
      <p:sp>
        <p:nvSpPr>
          <p:cNvPr id="218" name="Google Shape;218;p21"/>
          <p:cNvSpPr txBox="1"/>
          <p:nvPr/>
        </p:nvSpPr>
        <p:spPr>
          <a:xfrm>
            <a:off x="3886200" y="2695575"/>
            <a:ext cx="77343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By default, AWS blocks all public access to S3 buckets. This is a crucial security layer to prevent data leaks.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Block Public Access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762000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Static Website Hosting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0886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571500" y="1990725"/>
            <a:ext cx="4953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S3 can host static websites (HTML, CSS, JS) without managing a server. It provides a unique endpoint for your visitors.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1000125" y="3314700"/>
            <a:ext cx="4524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 Servers: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 OS to patch or scale.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000125" y="3895725"/>
            <a:ext cx="4524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Cost Effective: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Pay only for storage and bandwidth.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000125" y="4819650"/>
            <a:ext cx="4524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Integration: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Works perfectly with Amazon CloudFront for global delivery.</a:t>
            </a:r>
            <a:endParaRPr dirty="0"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147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957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1965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/>
          <p:nvPr/>
        </p:nvSpPr>
        <p:spPr>
          <a:xfrm>
            <a:off x="5381625" y="2490787"/>
            <a:ext cx="142875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2590561" y="2833687"/>
            <a:ext cx="7010876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S3 Storage Classes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2890837" y="4052887"/>
            <a:ext cx="64103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Optimizing for performance, durability, and cost.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571500" y="232886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Frequency: Frequent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2605087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default storage class for frequently accessed data.</a:t>
            </a:r>
            <a:endParaRPr/>
          </a:p>
        </p:txBody>
      </p:sp>
      <p:pic>
        <p:nvPicPr>
          <p:cNvPr id="272" name="Google Shape;27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000125" y="3443287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Low Latency: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 throughput for rapid access.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000125" y="4024312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Website images, mobile apps, gaming assets, and active data analytics.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000125" y="4948237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Availability: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99.99% per year.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S3 Standard</a:t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32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243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4823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 txBox="1"/>
          <p:nvPr/>
        </p:nvSpPr>
        <p:spPr>
          <a:xfrm>
            <a:off x="6381750" y="215741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Frequency: Infrequent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6381750" y="2433637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Designed for data that is accessed less often but requires rapid access when needed.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6810375" y="3271837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Lower Cost: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Cheaper storage price than Standard.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6810375" y="4195762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Retrieval Fee: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You pay a small fee per GB retrieved.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6810375" y="5119687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Disaster recovery, long-term backups.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S3 Standard-IA</a:t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2718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1957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11968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571500" y="267176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Frequency: Archival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571500" y="2947987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low-cost storage class for data archiving.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1000125" y="3443287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Expedited: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1–5 minutes retrieval.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1000125" y="4024312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3–5 hours retrieval.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1000125" y="4605337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Bulk: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5–12 hours retrieval (cheapest).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S3 Glacier Retrieval</a:t>
            </a:r>
            <a:endParaRPr/>
          </a:p>
        </p:txBody>
      </p:sp>
      <p:sp>
        <p:nvSpPr>
          <p:cNvPr id="310" name="Google Shape;310;p2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32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243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0533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6" y="2032981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8"/>
          <p:cNvSpPr txBox="1"/>
          <p:nvPr/>
        </p:nvSpPr>
        <p:spPr>
          <a:xfrm>
            <a:off x="595313" y="174783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Frequency: Once a year</a:t>
            </a:r>
            <a:endParaRPr dirty="0"/>
          </a:p>
        </p:txBody>
      </p:sp>
      <p:sp>
        <p:nvSpPr>
          <p:cNvPr id="322" name="Google Shape;322;p28"/>
          <p:cNvSpPr txBox="1"/>
          <p:nvPr/>
        </p:nvSpPr>
        <p:spPr>
          <a:xfrm>
            <a:off x="762000" y="2153265"/>
            <a:ext cx="10858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lowest-cost storage class in AWS for long-term retention.</a:t>
            </a:r>
            <a:endParaRPr lang="en-US" dirty="0"/>
          </a:p>
        </p:txBody>
      </p:sp>
      <p:sp>
        <p:nvSpPr>
          <p:cNvPr id="323" name="Google Shape;323;p28"/>
          <p:cNvSpPr txBox="1"/>
          <p:nvPr/>
        </p:nvSpPr>
        <p:spPr>
          <a:xfrm>
            <a:off x="838199" y="2767603"/>
            <a:ext cx="107823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Ultra Low Cost: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Cheaper than on-premises tape storage.</a:t>
            </a:r>
            <a:endParaRPr dirty="0"/>
          </a:p>
        </p:txBody>
      </p:sp>
      <p:sp>
        <p:nvSpPr>
          <p:cNvPr id="324" name="Google Shape;324;p28"/>
          <p:cNvSpPr txBox="1"/>
          <p:nvPr/>
        </p:nvSpPr>
        <p:spPr>
          <a:xfrm>
            <a:off x="837739" y="3183101"/>
            <a:ext cx="1078276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Retrieval Time: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12 to 48 hours.</a:t>
            </a:r>
            <a:endParaRPr dirty="0"/>
          </a:p>
        </p:txBody>
      </p:sp>
      <p:sp>
        <p:nvSpPr>
          <p:cNvPr id="325" name="Google Shape;325;p28"/>
          <p:cNvSpPr txBox="1"/>
          <p:nvPr/>
        </p:nvSpPr>
        <p:spPr>
          <a:xfrm>
            <a:off x="837739" y="3598599"/>
            <a:ext cx="1078276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Compliance data, regulatory archives, library media storage.</a:t>
            </a:r>
            <a:endParaRPr dirty="0"/>
          </a:p>
        </p:txBody>
      </p:sp>
      <p:sp>
        <p:nvSpPr>
          <p:cNvPr id="326" name="Google Shape;326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S3 Glacier Deep Archive</a:t>
            </a:r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156" y="281939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4350" y="322946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7447" y="366175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9"/>
          <p:cNvSpPr txBox="1"/>
          <p:nvPr/>
        </p:nvSpPr>
        <p:spPr>
          <a:xfrm>
            <a:off x="571500" y="241935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 your data management to reduce costs over time.</a:t>
            </a:r>
            <a:endParaRPr/>
          </a:p>
        </p:txBody>
      </p:sp>
      <p:sp>
        <p:nvSpPr>
          <p:cNvPr id="337" name="Google Shape;337;p29"/>
          <p:cNvSpPr/>
          <p:nvPr/>
        </p:nvSpPr>
        <p:spPr>
          <a:xfrm>
            <a:off x="571500" y="4152900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1533525" y="33813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516254" y="3857625"/>
            <a:ext cx="23202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Day 0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571500" y="4133850"/>
            <a:ext cx="2209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Upload to S3 Standard</a:t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4479875" y="33813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9"/>
          <p:cNvSpPr txBox="1"/>
          <p:nvPr/>
        </p:nvSpPr>
        <p:spPr>
          <a:xfrm>
            <a:off x="3462605" y="3857625"/>
            <a:ext cx="23202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Day 30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3517850" y="4133850"/>
            <a:ext cx="2209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Transition to Standard-IA</a:t>
            </a:r>
            <a:endParaRPr/>
          </a:p>
        </p:txBody>
      </p:sp>
      <p:sp>
        <p:nvSpPr>
          <p:cNvPr id="344" name="Google Shape;344;p29"/>
          <p:cNvSpPr/>
          <p:nvPr/>
        </p:nvSpPr>
        <p:spPr>
          <a:xfrm>
            <a:off x="7426225" y="33813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 txBox="1"/>
          <p:nvPr/>
        </p:nvSpPr>
        <p:spPr>
          <a:xfrm>
            <a:off x="6408955" y="3857625"/>
            <a:ext cx="23202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Day 90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6464200" y="413385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Transition to Glacier</a:t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10372576" y="33813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9355306" y="3857625"/>
            <a:ext cx="23202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Day 365+</a:t>
            </a:r>
            <a:endParaRPr/>
          </a:p>
        </p:txBody>
      </p:sp>
      <p:sp>
        <p:nvSpPr>
          <p:cNvPr id="349" name="Google Shape;349;p29"/>
          <p:cNvSpPr txBox="1"/>
          <p:nvPr/>
        </p:nvSpPr>
        <p:spPr>
          <a:xfrm>
            <a:off x="9410551" y="413385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Permanently Delete</a:t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Lifecycle Policies</a:t>
            </a:r>
            <a:endParaRPr/>
          </a:p>
        </p:txBody>
      </p:sp>
      <p:sp>
        <p:nvSpPr>
          <p:cNvPr id="351" name="Google Shape;351;p2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6000"/>
            <a:ext cx="349240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86000"/>
            <a:ext cx="3492549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86000"/>
            <a:ext cx="34924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0"/>
          <p:cNvSpPr txBox="1"/>
          <p:nvPr/>
        </p:nvSpPr>
        <p:spPr>
          <a:xfrm>
            <a:off x="884239" y="3429000"/>
            <a:ext cx="28669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IAM Policies</a:t>
            </a:r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952500" y="3971925"/>
            <a:ext cx="2730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Applied to Users or Roles to define what S3 actions they can perform.</a:t>
            </a:r>
            <a:endParaRPr/>
          </a:p>
        </p:txBody>
      </p:sp>
      <p:sp>
        <p:nvSpPr>
          <p:cNvPr id="362" name="Google Shape;362;p30"/>
          <p:cNvSpPr txBox="1"/>
          <p:nvPr/>
        </p:nvSpPr>
        <p:spPr>
          <a:xfrm>
            <a:off x="4662387" y="342900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Bucket Policies</a:t>
            </a:r>
            <a:endParaRPr/>
          </a:p>
        </p:txBody>
      </p:sp>
      <p:sp>
        <p:nvSpPr>
          <p:cNvPr id="363" name="Google Shape;363;p30"/>
          <p:cNvSpPr txBox="1"/>
          <p:nvPr/>
        </p:nvSpPr>
        <p:spPr>
          <a:xfrm>
            <a:off x="4730650" y="3971925"/>
            <a:ext cx="27305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Applied directly to the Bucket to define who has access.</a:t>
            </a:r>
            <a:endParaRPr/>
          </a:p>
        </p:txBody>
      </p:sp>
      <p:sp>
        <p:nvSpPr>
          <p:cNvPr id="364" name="Google Shape;364;p30"/>
          <p:cNvSpPr txBox="1"/>
          <p:nvPr/>
        </p:nvSpPr>
        <p:spPr>
          <a:xfrm>
            <a:off x="8440690" y="3429000"/>
            <a:ext cx="28669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Encryption</a:t>
            </a:r>
            <a:endParaRPr/>
          </a:p>
        </p:txBody>
      </p:sp>
      <p:sp>
        <p:nvSpPr>
          <p:cNvPr id="365" name="Google Shape;365;p30"/>
          <p:cNvSpPr txBox="1"/>
          <p:nvPr/>
        </p:nvSpPr>
        <p:spPr>
          <a:xfrm>
            <a:off x="8508950" y="3971925"/>
            <a:ext cx="273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Encrypt data at rest and in transit to ensure privacy.</a:t>
            </a:r>
            <a:endParaRPr/>
          </a:p>
        </p:txBody>
      </p:sp>
      <p:pic>
        <p:nvPicPr>
          <p:cNvPr id="366" name="Google Shape;366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7662" y="271462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14876" y="2714625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025" y="27146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Security in Amazon S3</a:t>
            </a:r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224212"/>
            <a:ext cx="523875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1"/>
          <p:cNvSpPr txBox="1"/>
          <p:nvPr/>
        </p:nvSpPr>
        <p:spPr>
          <a:xfrm>
            <a:off x="571500" y="2466975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Bucket Policy is a resource-based policy written in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JSON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format.</a:t>
            </a:r>
            <a:endParaRPr/>
          </a:p>
        </p:txBody>
      </p:sp>
      <p:sp>
        <p:nvSpPr>
          <p:cNvPr id="378" name="Google Shape;378;p31"/>
          <p:cNvSpPr txBox="1"/>
          <p:nvPr/>
        </p:nvSpPr>
        <p:spPr>
          <a:xfrm>
            <a:off x="1000125" y="3305175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Scope: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Specific to the bucket it's attached to.</a:t>
            </a:r>
            <a:endParaRPr/>
          </a:p>
        </p:txBody>
      </p:sp>
      <p:sp>
        <p:nvSpPr>
          <p:cNvPr id="379" name="Google Shape;379;p31"/>
          <p:cNvSpPr txBox="1"/>
          <p:nvPr/>
        </p:nvSpPr>
        <p:spPr>
          <a:xfrm>
            <a:off x="1000125" y="3886200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Power: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Can grant or deny cross-account access.</a:t>
            </a: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1000125" y="4467225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Logic: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Always "Deny" takes precedence over "Allow".</a:t>
            </a:r>
            <a:endParaRPr/>
          </a:p>
        </p:txBody>
      </p:sp>
      <p:sp>
        <p:nvSpPr>
          <p:cNvPr id="381" name="Google Shape;381;p3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Bucket Policy</a:t>
            </a:r>
            <a:endParaRPr/>
          </a:p>
        </p:txBody>
      </p:sp>
      <p:sp>
        <p:nvSpPr>
          <p:cNvPr id="382" name="Google Shape;382;p3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051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862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6722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7986" y="-16192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2"/>
          <p:cNvSpPr txBox="1"/>
          <p:nvPr/>
        </p:nvSpPr>
        <p:spPr>
          <a:xfrm>
            <a:off x="502059" y="1919288"/>
            <a:ext cx="1003812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IAM Policies are attached to users, groups, or roles. They define "Who" can do "What".</a:t>
            </a:r>
            <a:endParaRPr dirty="0"/>
          </a:p>
        </p:txBody>
      </p:sp>
      <p:sp>
        <p:nvSpPr>
          <p:cNvPr id="393" name="Google Shape;393;p32"/>
          <p:cNvSpPr txBox="1"/>
          <p:nvPr/>
        </p:nvSpPr>
        <p:spPr>
          <a:xfrm>
            <a:off x="647700" y="2895599"/>
            <a:ext cx="887975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Centralized: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Manage permissions for users across all AWS services.</a:t>
            </a:r>
            <a:endParaRPr dirty="0"/>
          </a:p>
        </p:txBody>
      </p:sp>
      <p:sp>
        <p:nvSpPr>
          <p:cNvPr id="394" name="Google Shape;394;p32"/>
          <p:cNvSpPr txBox="1"/>
          <p:nvPr/>
        </p:nvSpPr>
        <p:spPr>
          <a:xfrm>
            <a:off x="609600" y="3719514"/>
            <a:ext cx="963561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Standardization: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Use Managed Policies for common S3 tasks (e.g.,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ReadOnlyAccess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395" name="Google Shape;395;p3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IAM Policy</a:t>
            </a:r>
            <a:endParaRPr/>
          </a:p>
        </p:txBody>
      </p:sp>
      <p:sp>
        <p:nvSpPr>
          <p:cNvPr id="396" name="Google Shape;396;p3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595" y="299085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3489" y="378618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77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6000"/>
            <a:ext cx="349240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86000"/>
            <a:ext cx="3492549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86000"/>
            <a:ext cx="34924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3"/>
          <p:cNvSpPr txBox="1"/>
          <p:nvPr/>
        </p:nvSpPr>
        <p:spPr>
          <a:xfrm>
            <a:off x="884239" y="3429000"/>
            <a:ext cx="28669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SSE-S3</a:t>
            </a:r>
            <a:endParaRPr/>
          </a:p>
        </p:txBody>
      </p:sp>
      <p:sp>
        <p:nvSpPr>
          <p:cNvPr id="408" name="Google Shape;408;p33"/>
          <p:cNvSpPr txBox="1"/>
          <p:nvPr/>
        </p:nvSpPr>
        <p:spPr>
          <a:xfrm>
            <a:off x="952500" y="3971925"/>
            <a:ext cx="2730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Keys managed by S3. Easiest way to encrypt with no management overhead.</a:t>
            </a:r>
            <a:endParaRPr/>
          </a:p>
        </p:txBody>
      </p:sp>
      <p:sp>
        <p:nvSpPr>
          <p:cNvPr id="409" name="Google Shape;409;p33"/>
          <p:cNvSpPr txBox="1"/>
          <p:nvPr/>
        </p:nvSpPr>
        <p:spPr>
          <a:xfrm>
            <a:off x="4662387" y="342900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SSE-KMS</a:t>
            </a:r>
            <a:endParaRPr/>
          </a:p>
        </p:txBody>
      </p:sp>
      <p:sp>
        <p:nvSpPr>
          <p:cNvPr id="410" name="Google Shape;410;p33"/>
          <p:cNvSpPr txBox="1"/>
          <p:nvPr/>
        </p:nvSpPr>
        <p:spPr>
          <a:xfrm>
            <a:off x="4730650" y="3971925"/>
            <a:ext cx="27305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Keys managed by AWS Key Management Service. Provides audit trails.</a:t>
            </a:r>
            <a:endParaRPr/>
          </a:p>
        </p:txBody>
      </p:sp>
      <p:sp>
        <p:nvSpPr>
          <p:cNvPr id="411" name="Google Shape;411;p33"/>
          <p:cNvSpPr txBox="1"/>
          <p:nvPr/>
        </p:nvSpPr>
        <p:spPr>
          <a:xfrm>
            <a:off x="8440690" y="3429000"/>
            <a:ext cx="28669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SSE-C</a:t>
            </a:r>
            <a:endParaRPr/>
          </a:p>
        </p:txBody>
      </p:sp>
      <p:sp>
        <p:nvSpPr>
          <p:cNvPr id="412" name="Google Shape;412;p33"/>
          <p:cNvSpPr txBox="1"/>
          <p:nvPr/>
        </p:nvSpPr>
        <p:spPr>
          <a:xfrm>
            <a:off x="8508950" y="3971925"/>
            <a:ext cx="273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provide and manage your own encryption keys.</a:t>
            </a:r>
            <a:endParaRPr/>
          </a:p>
        </p:txBody>
      </p:sp>
      <p:pic>
        <p:nvPicPr>
          <p:cNvPr id="413" name="Google Shape;41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8150" y="27146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7146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4113" y="271462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Encryption in S3</a:t>
            </a:r>
            <a:endParaRPr/>
          </a:p>
        </p:txBody>
      </p:sp>
      <p:sp>
        <p:nvSpPr>
          <p:cNvPr id="417" name="Google Shape;417;p3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5"/>
          <p:cNvSpPr txBox="1"/>
          <p:nvPr/>
        </p:nvSpPr>
        <p:spPr>
          <a:xfrm>
            <a:off x="571500" y="2295525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Upload large files in parts to improve throughput and reliability.</a:t>
            </a:r>
            <a:endParaRPr/>
          </a:p>
        </p:txBody>
      </p:sp>
      <p:pic>
        <p:nvPicPr>
          <p:cNvPr id="433" name="Google Shape;43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5"/>
          <p:cNvSpPr txBox="1"/>
          <p:nvPr/>
        </p:nvSpPr>
        <p:spPr>
          <a:xfrm>
            <a:off x="1000125" y="3133725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Parallelism: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Upload multiple parts at once.</a:t>
            </a:r>
            <a:endParaRPr/>
          </a:p>
        </p:txBody>
      </p:sp>
      <p:sp>
        <p:nvSpPr>
          <p:cNvPr id="435" name="Google Shape;435;p35"/>
          <p:cNvSpPr txBox="1"/>
          <p:nvPr/>
        </p:nvSpPr>
        <p:spPr>
          <a:xfrm>
            <a:off x="1000125" y="3714750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Resilience: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If one part fails, only that part needs to be re-uploaded.</a:t>
            </a:r>
            <a:endParaRPr/>
          </a:p>
        </p:txBody>
      </p:sp>
      <p:sp>
        <p:nvSpPr>
          <p:cNvPr id="436" name="Google Shape;436;p35"/>
          <p:cNvSpPr txBox="1"/>
          <p:nvPr/>
        </p:nvSpPr>
        <p:spPr>
          <a:xfrm>
            <a:off x="1000125" y="4638675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Requirement: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Recommended for files &gt; 100MB. Mandatory for files &gt; 5GB.</a:t>
            </a:r>
            <a:endParaRPr/>
          </a:p>
        </p:txBody>
      </p:sp>
      <p:sp>
        <p:nvSpPr>
          <p:cNvPr id="437" name="Google Shape;437;p3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Multipart Upload</a:t>
            </a:r>
            <a:endParaRPr/>
          </a:p>
        </p:txBody>
      </p:sp>
      <p:sp>
        <p:nvSpPr>
          <p:cNvPr id="438" name="Google Shape;438;p3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337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147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3867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6"/>
          <p:cNvSpPr txBox="1"/>
          <p:nvPr/>
        </p:nvSpPr>
        <p:spPr>
          <a:xfrm>
            <a:off x="6381750" y="269557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CRR (Cross-Region)</a:t>
            </a:r>
            <a:endParaRPr/>
          </a:p>
        </p:txBody>
      </p:sp>
      <p:sp>
        <p:nvSpPr>
          <p:cNvPr id="450" name="Google Shape;450;p36"/>
          <p:cNvSpPr txBox="1"/>
          <p:nvPr/>
        </p:nvSpPr>
        <p:spPr>
          <a:xfrm>
            <a:off x="6381750" y="2971800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Copies objects across buckets in different AWS Regions (e.g., US-East to EU-West).</a:t>
            </a:r>
            <a:endParaRPr/>
          </a:p>
        </p:txBody>
      </p:sp>
      <p:sp>
        <p:nvSpPr>
          <p:cNvPr id="451" name="Google Shape;451;p36"/>
          <p:cNvSpPr/>
          <p:nvPr/>
        </p:nvSpPr>
        <p:spPr>
          <a:xfrm>
            <a:off x="6381750" y="3848100"/>
            <a:ext cx="5238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6"/>
          <p:cNvSpPr txBox="1"/>
          <p:nvPr/>
        </p:nvSpPr>
        <p:spPr>
          <a:xfrm>
            <a:off x="6381750" y="40576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SRR (Same-Region)</a:t>
            </a:r>
            <a:endParaRPr/>
          </a:p>
        </p:txBody>
      </p:sp>
      <p:sp>
        <p:nvSpPr>
          <p:cNvPr id="453" name="Google Shape;453;p36"/>
          <p:cNvSpPr txBox="1"/>
          <p:nvPr/>
        </p:nvSpPr>
        <p:spPr>
          <a:xfrm>
            <a:off x="6381750" y="4333875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Copies objects across buckets in the same AWS Region.</a:t>
            </a:r>
            <a:endParaRPr/>
          </a:p>
        </p:txBody>
      </p:sp>
      <p:sp>
        <p:nvSpPr>
          <p:cNvPr id="454" name="Google Shape;454;p3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S3 Replication</a:t>
            </a:r>
            <a:endParaRPr/>
          </a:p>
        </p:txBody>
      </p:sp>
      <p:sp>
        <p:nvSpPr>
          <p:cNvPr id="455" name="Google Shape;455;p3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8"/>
          <p:cNvSpPr txBox="1"/>
          <p:nvPr/>
        </p:nvSpPr>
        <p:spPr>
          <a:xfrm>
            <a:off x="1520428" y="2033587"/>
            <a:ext cx="915114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1030</Words>
  <Application>Microsoft Office PowerPoint</Application>
  <PresentationFormat>Widescreen</PresentationFormat>
  <Paragraphs>118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Poppins</vt:lpstr>
      <vt:lpstr>Lato</vt:lpstr>
      <vt:lpstr>Calibri</vt:lpstr>
      <vt:lpstr>Arial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ADLAGATTA VIGNESH</dc:creator>
  <cp:lastModifiedBy>naseroddin baba</cp:lastModifiedBy>
  <cp:revision>2</cp:revision>
  <dcterms:modified xsi:type="dcterms:W3CDTF">2026-03-12T04:12:56Z</dcterms:modified>
</cp:coreProperties>
</file>