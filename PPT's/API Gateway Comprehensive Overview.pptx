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Urbanist" panose="020B0604020202020204" charset="0"/>
      <p:regular r:id="rId25"/>
      <p:bold r:id="rId26"/>
      <p:italic r:id="rId27"/>
      <p:boldItalic r:id="rId28"/>
    </p:embeddedFont>
    <p:embeddedFont>
      <p:font typeface="Urbanist ExtraBold" panose="020B0604020202020204" charset="0"/>
      <p:bold r:id="rId29"/>
      <p:boldItalic r:id="rId30"/>
    </p:embeddedFont>
    <p:embeddedFont>
      <p:font typeface="Urbanist SemiBold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97B6EA-E820-4119-A85A-339F0F0D3B42}">
  <a:tblStyle styleId="{8D97B6EA-E820-4119-A85A-339F0F0D3B4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microsoft.com/office/2016/11/relationships/changesInfo" Target="changesInfos/changesInfo1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eroddin baba" userId="3d31b25fe7691ce1" providerId="LiveId" clId="{2CDD16C3-32BE-4282-AD6F-36B9E582E20C}"/>
    <pc:docChg chg="custSel delSld modSld">
      <pc:chgData name="naseroddin baba" userId="3d31b25fe7691ce1" providerId="LiveId" clId="{2CDD16C3-32BE-4282-AD6F-36B9E582E20C}" dt="2026-03-20T13:45:50.191" v="3" actId="47"/>
      <pc:docMkLst>
        <pc:docMk/>
      </pc:docMkLst>
      <pc:sldChg chg="delSp del mod">
        <pc:chgData name="naseroddin baba" userId="3d31b25fe7691ce1" providerId="LiveId" clId="{2CDD16C3-32BE-4282-AD6F-36B9E582E20C}" dt="2026-03-20T13:45:50.191" v="3" actId="47"/>
        <pc:sldMkLst>
          <pc:docMk/>
          <pc:sldMk cId="0" sldId="266"/>
        </pc:sldMkLst>
        <pc:picChg chg="del">
          <ac:chgData name="naseroddin baba" userId="3d31b25fe7691ce1" providerId="LiveId" clId="{2CDD16C3-32BE-4282-AD6F-36B9E582E20C}" dt="2026-03-20T13:45:41.370" v="2" actId="478"/>
          <ac:picMkLst>
            <pc:docMk/>
            <pc:sldMk cId="0" sldId="266"/>
            <ac:picMk id="21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05526" y="2375594"/>
            <a:ext cx="7580947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API Gateway</a:t>
            </a: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Overview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415605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Modern Digital Entry Point: Mastering Architecture, Security, and Scalability in a Microservices Era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0676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242095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Digital Messenger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64765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Programming Interface (API)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the set of protocols and tools that allows different software applications to communicate seamlessly.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71628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000125" y="380017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Connects disparate software components.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435262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Standardizes data exchange formats.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490507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Enables modular software design.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3827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9072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4317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WHAT IS AN API?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3077"/>
            <a:ext cx="5238750" cy="3693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03077"/>
            <a:ext cx="5238750" cy="369376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962025" y="3193702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Traffic Controller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62025" y="3839467"/>
            <a:ext cx="44577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Acts as the single entry point for all client requests. It intercepts all incoming calls and routes them to the correct destination within a complex backend architecture.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72275" y="3193702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Orchestrator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72275" y="3839467"/>
            <a:ext cx="44577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Manages cross-cutting concerns like authentication, logging, and protocol translation, allowing backend microservices to focus exclusively on business logic.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441227"/>
            <a:ext cx="285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44122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WHAT IS AN API GATEWAY?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5619750" y="2356544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630441" y="2680394"/>
            <a:ext cx="8931116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Features &amp; Architecture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2286000" y="3720405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core capabilities that define a high-performance Gateway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1236315"/>
            <a:ext cx="52006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HOW IT WORKS</a:t>
            </a:r>
            <a:endParaRPr/>
          </a:p>
        </p:txBody>
      </p:sp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1000125" y="2040135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Request Reception: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Client sends a request to the single Gateway endpoint.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000125" y="2906910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Policy Enforcement: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Gateway checks Auth, Rate Limits, and Whitelists.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000125" y="3773685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Intelligent Routing: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Dynamic routing to the appropriate microservice instance.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000125" y="4640460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Response Aggregation: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Combines data from multiple services into one payload.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13420"/>
            <a:ext cx="3492549" cy="4873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413420"/>
            <a:ext cx="3492549" cy="4873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413420"/>
            <a:ext cx="3492549" cy="487307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962025" y="2604045"/>
            <a:ext cx="2847074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Cloud-Native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62025" y="3249810"/>
            <a:ext cx="2711499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Managed services like AWS API Gateway or Azure APIM. Ideal for serverless and rapid scaling.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740324" y="2604045"/>
            <a:ext cx="2847074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Self-Hosted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4740324" y="3249810"/>
            <a:ext cx="2711499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Open-source solutions like Kong or Tyk. Offers maximum control over infrastructure and privacy.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518624" y="2604045"/>
            <a:ext cx="2847074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Microgateways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518624" y="3249810"/>
            <a:ext cx="2711499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Lightweight proxies deployed close to individual services in a service mesh environment.</a:t>
            </a:r>
            <a:endParaRPr/>
          </a:p>
        </p:txBody>
      </p:sp>
      <p:pic>
        <p:nvPicPr>
          <p:cNvPr id="150" name="Google Shape;15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185157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1851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185157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TYPES OF API GATEWAYS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13420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413420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413420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571500" y="3985170"/>
            <a:ext cx="366717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Microservices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4630935"/>
            <a:ext cx="349254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Decoupling client applications from internal service complexity.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4349799" y="3985170"/>
            <a:ext cx="366717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Modernization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349799" y="4630935"/>
            <a:ext cx="349254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Wrapping legacy SOAP or monolithic systems with modern REST/GraphQL APIs.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128099" y="3985170"/>
            <a:ext cx="366717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Mobile Support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128099" y="4630935"/>
            <a:ext cx="349254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Reducing round-trips by aggregating data into single mobile-optimized calls.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1422945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59324" y="1422945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37624" y="1422945"/>
            <a:ext cx="347349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STRATEGIC USE CASES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0676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71628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1000125" y="2192535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Authentication: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Support for OAuth2, OIDC, JWT, and API Keys.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000125" y="3059310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WAF Integration: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Protection against SQLi, XSS, and common exploits.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000125" y="3926085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SSL Termination: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Centralized certificate management and encryption.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000125" y="4792860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IP Control: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Granular whitelisting and blacklisting of traffic.</a:t>
            </a:r>
            <a:endParaRPr/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3063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974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9641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83096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571500"/>
            <a:ext cx="116014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SECURITY FEATURES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71500" y="3045023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10k+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4378523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REQUESTS PER SECOND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381750" y="2494657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Preserving System Integrity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381750" y="2900213"/>
            <a:ext cx="5238750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Rate limiting ensures that no single client can monopolize system resources. By setting quotas on a per-second or per-minute basis, the Gateway prevents backend "noisy neighbor" effects and protects against DDoS attempts.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381750" y="4681388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Result: 99.99% Availability during traffic spikes.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571500"/>
            <a:ext cx="116014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THROTTLING &amp; RATE LIMITING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13420"/>
            <a:ext cx="11049000" cy="487307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71500" y="1727894"/>
            <a:ext cx="11601450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 of Edge Caching on Latency (ms)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5448151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caching frequent requests at the Gateway layer, response times drop from ~300ms to &lt;30ms.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571500"/>
            <a:ext cx="116014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CACHING &amp; MONITORING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419</Words>
  <Application>Microsoft Office PowerPoint</Application>
  <PresentationFormat>Widescreen</PresentationFormat>
  <Paragraphs>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Inter Medium</vt:lpstr>
      <vt:lpstr>Arial</vt:lpstr>
      <vt:lpstr>Inter</vt:lpstr>
      <vt:lpstr>Urbanist</vt:lpstr>
      <vt:lpstr>Urbanist ExtraBold</vt:lpstr>
      <vt:lpstr>Urbanist SemiBold</vt:lpstr>
      <vt:lpstr>Calibri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naseroddin baba</cp:lastModifiedBy>
  <cp:revision>1</cp:revision>
  <dcterms:modified xsi:type="dcterms:W3CDTF">2026-03-20T13:45:50Z</dcterms:modified>
</cp:coreProperties>
</file>