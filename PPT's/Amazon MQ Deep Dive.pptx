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Urbanist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D1F853-FFD0-490E-B9CE-6E26874C7992}">
  <a:tblStyle styleId="{F1D1F853-FFD0-490E-B9CE-6E26874C79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1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eroddin baba" userId="3d31b25fe7691ce1" providerId="LiveId" clId="{2CDD16C3-32BE-4282-AD6F-36B9E582E20C}"/>
    <pc:docChg chg="delSld">
      <pc:chgData name="naseroddin baba" userId="3d31b25fe7691ce1" providerId="LiveId" clId="{2CDD16C3-32BE-4282-AD6F-36B9E582E20C}" dt="2026-03-18T06:50:54.149" v="1" actId="47"/>
      <pc:docMkLst>
        <pc:docMk/>
      </pc:docMkLst>
      <pc:sldChg chg="del">
        <pc:chgData name="naseroddin baba" userId="3d31b25fe7691ce1" providerId="LiveId" clId="{2CDD16C3-32BE-4282-AD6F-36B9E582E20C}" dt="2026-03-18T06:50:54.149" v="1" actId="47"/>
        <pc:sldMkLst>
          <pc:docMk/>
          <pc:sldMk cId="0" sldId="270"/>
        </pc:sldMkLst>
      </pc:sldChg>
      <pc:sldChg chg="del">
        <pc:chgData name="naseroddin baba" userId="3d31b25fe7691ce1" providerId="LiveId" clId="{2CDD16C3-32BE-4282-AD6F-36B9E582E20C}" dt="2026-03-18T06:50:52.046" v="0" actId="47"/>
        <pc:sldMkLst>
          <pc:docMk/>
          <pc:sldMk cId="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167187" y="2324100"/>
            <a:ext cx="38576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Next-Generation Connectivity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810714" y="2914650"/>
            <a:ext cx="4570571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Amazon MQ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166937" y="3943350"/>
            <a:ext cx="78581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Managed Message Broker Service for Distributed Applications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819400"/>
            <a:ext cx="9525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105751" y="3143250"/>
            <a:ext cx="39804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Modernizing Messaging Architecture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609975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Transitioning from legacy on-premises brokers to fully managed cloud infrastructure without re-engineering application code.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0287"/>
            <a:ext cx="34925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00287"/>
            <a:ext cx="34925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00287"/>
            <a:ext cx="3492549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866775" y="3348037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Reduced Overhead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3843337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AWS manages provisioning, setup, software patching, and high availability maintenance automatically.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645074" y="3348037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Interoperability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645074" y="3843337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Supports industry-standard protocols including AMQP, MQTT, STOMP, OpenWire, and WSS.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423374" y="3348037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Rapid Migration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423374" y="3843337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Migrate existing applications easily using standard APIs like JMS and NMS with zero code changes.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6431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VALUE PROPOSITION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1225"/>
            <a:ext cx="5286375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24100"/>
            <a:ext cx="5286375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571750"/>
            <a:ext cx="697408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962025" y="3371850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Apache ActiveMQ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62025" y="3867150"/>
            <a:ext cx="45053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standard for classic enterprise messaging. Provides rich features like JMS 1.1/2.0 support and massive connectivity options across diverse languages.</a:t>
            </a:r>
            <a:endParaRPr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714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6724650" y="3514725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RabbitMQ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724650" y="401002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Designed for low latency and high-throughput routing. Leverages the Erlang platform for robust clustering and distributed messaging patterns.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SUPPORTED BROKER ENGINES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71500" y="24574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Ideal for complex enterprise migrations requiring deep JMS integration.</a:t>
            </a:r>
            <a:endParaRPr/>
          </a:p>
        </p:txBody>
      </p:sp>
      <p:pic>
        <p:nvPicPr>
          <p:cNvPr id="137" name="Google Shape;13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952500" y="31718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Multi-protocol support (AMQP, MQTT, STOMP).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52500" y="369570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Durable storage with Amazon EFS.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952500" y="42195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Supports both Queues and Topics (Pub/Sub).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52500" y="474345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Advanced routing and filtering capabilities.</a:t>
            </a:r>
            <a:endParaRPr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146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385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624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8631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ENGINE DETAIL: ACTIVEMQ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71500" y="1062037"/>
            <a:ext cx="520065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ENGINE DETAIL: RABBITMQ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2414587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Built for developers who prioritize sub-millisecond latency and advanced routing logic (exchanges, bindings).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52500" y="3700462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Extremely high throughput.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52500" y="4224337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Flexible routing patterns.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952500" y="4748212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Native Erlang clustering.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52500" y="5272087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Direct and Fanout exchanges.</a:t>
            </a:r>
            <a:endParaRPr/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433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672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9107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314950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19"/>
          <p:cNvGraphicFramePr/>
          <p:nvPr/>
        </p:nvGraphicFramePr>
        <p:xfrm>
          <a:off x="571500" y="24050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{F1D1F853-FFD0-490E-B9CE-6E26874C7992}</a:tableStyleId>
              </a:tblPr>
              <a:tblGrid>
                <a:gridCol w="274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99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99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Apache ActiveMQ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99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RabbitMQ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Protocol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OpenWire / JMS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AMQP 0-9-1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Performance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Rich Features / Enterprise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Latency / High Throughput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Pub/Sub Support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Native Topics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Exchanges &amp; Bindings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 Storage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Amazon EFS / EBS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Instance Storage (EBS)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0" name="Google Shape;170;p19"/>
          <p:cNvSpPr/>
          <p:nvPr/>
        </p:nvSpPr>
        <p:spPr>
          <a:xfrm>
            <a:off x="571500" y="2981325"/>
            <a:ext cx="27458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3317378" y="2981325"/>
            <a:ext cx="37695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7086897" y="2981325"/>
            <a:ext cx="453360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71500" y="3562350"/>
            <a:ext cx="27458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3317378" y="3562350"/>
            <a:ext cx="37695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7086897" y="3562350"/>
            <a:ext cx="453360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71500" y="4143375"/>
            <a:ext cx="27458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3317378" y="4143375"/>
            <a:ext cx="37695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7086897" y="4143375"/>
            <a:ext cx="453360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71500" y="4724400"/>
            <a:ext cx="27458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3317378" y="4724400"/>
            <a:ext cx="37695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7086897" y="4724400"/>
            <a:ext cx="453360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571500" y="5305425"/>
            <a:ext cx="27458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3317378" y="5305425"/>
            <a:ext cx="37695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7086897" y="5305425"/>
            <a:ext cx="453360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ACTIVEMQ VS. RABBITMQ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0287"/>
            <a:ext cx="34925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00287"/>
            <a:ext cx="34925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00287"/>
            <a:ext cx="3492549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866775" y="3348037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Single Instance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66775" y="3843337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Ideal for development, testing, and non-critical workloads. Minimal cost with full protocol support.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4645074" y="3348037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Active/Standby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4645074" y="3843337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 for ActiveMQ HA. Redundant instances across AZs with synchronous data replication via EFS.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423374" y="3348037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Clustered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423374" y="3843337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high-availability model for RabbitMQ, utilizing a cluster of nodes for distributed messaging.</a:t>
            </a:r>
            <a:endParaRPr/>
          </a:p>
        </p:txBody>
      </p:sp>
      <p:pic>
        <p:nvPicPr>
          <p:cNvPr id="201" name="Google Shape;20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431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DEPLOYMENT ARCHITECTURE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6295" y="301942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2215" y="301942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28135" y="301942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64055" y="3019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/>
          <p:nvPr/>
        </p:nvSpPr>
        <p:spPr>
          <a:xfrm>
            <a:off x="571500" y="3305175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07968" y="3781425"/>
            <a:ext cx="266830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Publish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571500" y="4276725"/>
            <a:ext cx="254124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Producer sends message via AMQP/MQTT to the broker.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3343888" y="3781425"/>
            <a:ext cx="266830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Persist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3407419" y="4276725"/>
            <a:ext cx="254124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Broker writes message to Amazon EFS or EBS for durability.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179808" y="3781425"/>
            <a:ext cx="266830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Route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243339" y="4276725"/>
            <a:ext cx="254124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Engine applies logic to send message to specific consumer.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9015728" y="3781425"/>
            <a:ext cx="266830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Ack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9079259" y="4276725"/>
            <a:ext cx="254124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Consumer acknowledges receipt; message is cleared from queue.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MESSAGING LIFECYCLE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571500" y="229076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sophisticated architecture allowing multiple ActiveMQ brokers to interconnect, creating a massive, distributed mesh.</a:t>
            </a:r>
            <a:endParaRPr/>
          </a:p>
        </p:txBody>
      </p:sp>
      <p:pic>
        <p:nvPicPr>
          <p:cNvPr id="233" name="Google Shape;23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1333500" y="3338512"/>
            <a:ext cx="452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Global scalability across regions.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1333500" y="3862387"/>
            <a:ext cx="452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Intelligent load balancing.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333500" y="4386262"/>
            <a:ext cx="452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Mesh and Hub-and-Spoke topologies.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1333500" y="4910137"/>
            <a:ext cx="452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Bridge connections between VPCs.</a:t>
            </a:r>
            <a:endParaRPr/>
          </a:p>
        </p:txBody>
      </p:sp>
      <p:pic>
        <p:nvPicPr>
          <p:cNvPr id="238" name="Google Shape;23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3813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3905250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2500" y="44291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2500" y="4953000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NETWORK OF BROKERS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571500" y="18859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Amazon MQ provides enterprise-grade security out of the box.</a:t>
            </a:r>
            <a:endParaRPr/>
          </a:p>
        </p:txBody>
      </p:sp>
      <p:pic>
        <p:nvPicPr>
          <p:cNvPr id="250" name="Google Shape;25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952500" y="2600325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Encryption: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Automatic encryption at rest (KMS) and in transit (TLS).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952500" y="340995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Isolation: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Brokers run inside your Private VPC for isolation.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952500" y="4219575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Access Control: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Fine-grained IAM permissions for API operations.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952500" y="502920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Auditability: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Integrated with CloudTrail and CloudWatch Logs.</a:t>
            </a:r>
            <a:endParaRPr/>
          </a:p>
        </p:txBody>
      </p:sp>
      <p:pic>
        <p:nvPicPr>
          <p:cNvPr id="255" name="Google Shape;25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431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5281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26243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072062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SECURITY &amp; COMPLIANCE</a:t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571500" y="54578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AMQP remains the dominant standard for cross-language interoperability in enterprise clouds.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PROTOCOL DISTRIBUTION</a:t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571500" y="54102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Amazon MQ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when you need industry protocols or complex routing. Use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SQS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 hyper-scale cloud-native queues.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MQ VS. SQS VS. SNS</a:t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6"/>
          <p:cNvSpPr txBox="1"/>
          <p:nvPr/>
        </p:nvSpPr>
        <p:spPr>
          <a:xfrm>
            <a:off x="571500" y="4491037"/>
            <a:ext cx="1104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Seamlessly transition from on-premises IBM MQ, Tibco, or self-managed brokers with industry-standard stability.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571500" y="2405062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0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571500" y="3833812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CODE CHANGES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6334125" y="2405062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99.9%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6334125" y="3833812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SLA AVAILABILITY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MIGRATION IMPACT</a:t>
            </a: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Widescreen</PresentationFormat>
  <Paragraphs>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Arial</vt:lpstr>
      <vt:lpstr>Urbanist</vt:lpstr>
      <vt:lpstr>Inter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naseroddin baba</cp:lastModifiedBy>
  <cp:revision>1</cp:revision>
  <dcterms:modified xsi:type="dcterms:W3CDTF">2026-03-18T06:50:54Z</dcterms:modified>
</cp:coreProperties>
</file>