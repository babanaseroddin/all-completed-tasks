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Inter" panose="020B0604020202020204" charset="0"/>
      <p:regular r:id="rId17"/>
      <p:bold r:id="rId18"/>
      <p:italic r:id="rId19"/>
      <p:boldItalic r:id="rId20"/>
    </p:embeddedFont>
    <p:embeddedFont>
      <p:font typeface="Inter SemiBold" panose="020B0604020202020204" charset="0"/>
      <p:regular r:id="rId21"/>
      <p:bold r:id="rId22"/>
      <p:italic r:id="rId23"/>
      <p:boldItalic r:id="rId24"/>
    </p:embeddedFont>
    <p:embeddedFont>
      <p:font typeface="Urbanist" panose="020B060402020202020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A6BC955-F112-489C-BDE2-42C562649C5A}">
  <a:tblStyle styleId="{8A6BC955-F112-489C-BDE2-42C562649C5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12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seroddin baba" userId="3d31b25fe7691ce1" providerId="LiveId" clId="{2CDD16C3-32BE-4282-AD6F-36B9E582E20C}"/>
    <pc:docChg chg="delSld">
      <pc:chgData name="naseroddin baba" userId="3d31b25fe7691ce1" providerId="LiveId" clId="{2CDD16C3-32BE-4282-AD6F-36B9E582E20C}" dt="2026-03-18T06:56:12.760" v="1" actId="47"/>
      <pc:docMkLst>
        <pc:docMk/>
      </pc:docMkLst>
      <pc:sldChg chg="del">
        <pc:chgData name="naseroddin baba" userId="3d31b25fe7691ce1" providerId="LiveId" clId="{2CDD16C3-32BE-4282-AD6F-36B9E582E20C}" dt="2026-03-18T06:56:12.760" v="1" actId="47"/>
        <pc:sldMkLst>
          <pc:docMk/>
          <pc:sldMk cId="0" sldId="270"/>
        </pc:sldMkLst>
      </pc:sldChg>
      <pc:sldChg chg="del">
        <pc:chgData name="naseroddin baba" userId="3d31b25fe7691ce1" providerId="LiveId" clId="{2CDD16C3-32BE-4282-AD6F-36B9E582E20C}" dt="2026-03-18T06:56:11.342" v="0" actId="47"/>
        <pc:sldMkLst>
          <pc:docMk/>
          <pc:sldMk cId="0" sldId="2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419350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AWS Key </a:t>
            </a:r>
            <a:r>
              <a:rPr lang="en-US" sz="6000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Management</a:t>
            </a:r>
            <a:r>
              <a:rPr lang="en-US" sz="6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Service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524250"/>
            <a:ext cx="7620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Securely Create, Manage, and Control Cryptographic Keys Across AWS Cloud Infrastructure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/>
          <p:nvPr/>
        </p:nvSpPr>
        <p:spPr>
          <a:xfrm>
            <a:off x="5619750" y="2890837"/>
            <a:ext cx="95250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295275" y="3214687"/>
            <a:ext cx="116014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Foundational Concepts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571500" y="3681412"/>
            <a:ext cx="7620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Understanding Centralized Cryptographic Control in the Cloud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5738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571500" y="2538412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Fully Managed Security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571500" y="3090862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AWS KMS is a </a:t>
            </a:r>
            <a:r>
              <a:rPr lang="en-US" sz="150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fully managed service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that makes it easy for you to create and control the keys used to encrypt your data.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571500" y="4138612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It integrates with most other AWS services and uses </a:t>
            </a:r>
            <a:r>
              <a:rPr lang="en-US" sz="150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Hardware Security Modules (HSMs)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to protect the security of your keys.</a:t>
            </a:r>
            <a:endParaRPr/>
          </a:p>
        </p:txBody>
      </p:sp>
      <p:pic>
        <p:nvPicPr>
          <p:cNvPr id="104" name="Google Shape;10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966912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WHAT IS AWS KMS?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71762"/>
            <a:ext cx="5286375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671762"/>
            <a:ext cx="5286375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 txBox="1"/>
          <p:nvPr/>
        </p:nvSpPr>
        <p:spPr>
          <a:xfrm>
            <a:off x="962025" y="3062287"/>
            <a:ext cx="4730591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KMS Keys (CMKs)</a:t>
            </a: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962025" y="3614737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Primary keys that never leave KMS. Used only to encrypt/decrypt smaller amounts of data or to protect other keys.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6724650" y="3062287"/>
            <a:ext cx="4730591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Data Keys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6724650" y="3614737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Generated by KMS but used locally in your application or AWS service to encrypt large datasets efficiently.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KEY MANAGEMENT HIERARCHY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7"/>
          <p:cNvSpPr txBox="1"/>
          <p:nvPr/>
        </p:nvSpPr>
        <p:spPr>
          <a:xfrm>
            <a:off x="571500" y="1709737"/>
            <a:ext cx="52006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ENVELOPE ENCRYPTION</a:t>
            </a:r>
            <a:endParaRPr/>
          </a:p>
        </p:txBody>
      </p:sp>
      <p:sp>
        <p:nvSpPr>
          <p:cNvPr id="124" name="Google Shape;124;p17"/>
          <p:cNvSpPr txBox="1"/>
          <p:nvPr/>
        </p:nvSpPr>
        <p:spPr>
          <a:xfrm>
            <a:off x="571500" y="2576512"/>
            <a:ext cx="49530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This method combines the security of a </a:t>
            </a:r>
            <a:r>
              <a:rPr lang="en-US" sz="150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centralized master key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with the performance of </a:t>
            </a:r>
            <a:r>
              <a:rPr lang="en-US" sz="150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local data encryption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25" name="Google Shape;125;p17"/>
          <p:cNvSpPr txBox="1"/>
          <p:nvPr/>
        </p:nvSpPr>
        <p:spPr>
          <a:xfrm>
            <a:off x="571500" y="3814762"/>
            <a:ext cx="4953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Master Key encrypts the Data Key, which in turn encrypts the data itself. This allows for high-performance cryptography without exposing sensitive master keys.</a:t>
            </a:r>
            <a:endParaRPr/>
          </a:p>
        </p:txBody>
      </p:sp>
      <p:pic>
        <p:nvPicPr>
          <p:cNvPr id="126" name="Google Shape;12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8"/>
          <p:cNvSpPr/>
          <p:nvPr/>
        </p:nvSpPr>
        <p:spPr>
          <a:xfrm>
            <a:off x="5619750" y="2890837"/>
            <a:ext cx="95250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8"/>
          <p:cNvSpPr txBox="1"/>
          <p:nvPr/>
        </p:nvSpPr>
        <p:spPr>
          <a:xfrm>
            <a:off x="295275" y="3214687"/>
            <a:ext cx="116014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Security &amp; Governance</a:t>
            </a:r>
            <a:endParaRPr/>
          </a:p>
        </p:txBody>
      </p:sp>
      <p:sp>
        <p:nvSpPr>
          <p:cNvPr id="134" name="Google Shape;134;p18"/>
          <p:cNvSpPr txBox="1"/>
          <p:nvPr/>
        </p:nvSpPr>
        <p:spPr>
          <a:xfrm>
            <a:off x="571500" y="3681412"/>
            <a:ext cx="7620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Enforcing Compliance and Auditing Across the Enterprise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28837"/>
            <a:ext cx="3492549" cy="346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128837"/>
            <a:ext cx="3492549" cy="346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128837"/>
            <a:ext cx="3492549" cy="346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9"/>
          <p:cNvSpPr txBox="1"/>
          <p:nvPr/>
        </p:nvSpPr>
        <p:spPr>
          <a:xfrm>
            <a:off x="962025" y="3319462"/>
            <a:ext cx="2847074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Key Policies</a:t>
            </a:r>
            <a:endParaRPr/>
          </a:p>
        </p:txBody>
      </p:sp>
      <p:sp>
        <p:nvSpPr>
          <p:cNvPr id="144" name="Google Shape;144;p19"/>
          <p:cNvSpPr txBox="1"/>
          <p:nvPr/>
        </p:nvSpPr>
        <p:spPr>
          <a:xfrm>
            <a:off x="962025" y="3871912"/>
            <a:ext cx="271149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primary way to control access to keys. Every key must have exactly one policy that defines who can use it.</a:t>
            </a:r>
            <a:endParaRPr/>
          </a:p>
        </p:txBody>
      </p:sp>
      <p:sp>
        <p:nvSpPr>
          <p:cNvPr id="145" name="Google Shape;145;p19"/>
          <p:cNvSpPr txBox="1"/>
          <p:nvPr/>
        </p:nvSpPr>
        <p:spPr>
          <a:xfrm>
            <a:off x="4740324" y="3319462"/>
            <a:ext cx="2847074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IAM Policies</a:t>
            </a:r>
            <a:endParaRPr/>
          </a:p>
        </p:txBody>
      </p:sp>
      <p:sp>
        <p:nvSpPr>
          <p:cNvPr id="146" name="Google Shape;146;p19"/>
          <p:cNvSpPr txBox="1"/>
          <p:nvPr/>
        </p:nvSpPr>
        <p:spPr>
          <a:xfrm>
            <a:off x="4740324" y="3871912"/>
            <a:ext cx="271149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Work alongside Key Policies to provide granular access control for users and roles within an account.</a:t>
            </a:r>
            <a:endParaRPr/>
          </a:p>
        </p:txBody>
      </p:sp>
      <p:sp>
        <p:nvSpPr>
          <p:cNvPr id="147" name="Google Shape;147;p19"/>
          <p:cNvSpPr txBox="1"/>
          <p:nvPr/>
        </p:nvSpPr>
        <p:spPr>
          <a:xfrm>
            <a:off x="8518624" y="3319462"/>
            <a:ext cx="2847074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KMS Grants</a:t>
            </a:r>
            <a:endParaRPr/>
          </a:p>
        </p:txBody>
      </p:sp>
      <p:sp>
        <p:nvSpPr>
          <p:cNvPr id="148" name="Google Shape;148;p19"/>
          <p:cNvSpPr txBox="1"/>
          <p:nvPr/>
        </p:nvSpPr>
        <p:spPr>
          <a:xfrm>
            <a:off x="8518624" y="3871912"/>
            <a:ext cx="271149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mechanism for delegating permissions to other AWS services or users temporarily without updating policies.</a:t>
            </a:r>
            <a:endParaRPr/>
          </a:p>
        </p:txBody>
      </p:sp>
      <p:pic>
        <p:nvPicPr>
          <p:cNvPr id="149" name="Google Shape;149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2025" y="2566987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40324" y="2566987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18624" y="2566987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ACCESS CONTROL FRAMEWORK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0"/>
          <p:cNvSpPr/>
          <p:nvPr/>
        </p:nvSpPr>
        <p:spPr>
          <a:xfrm>
            <a:off x="2624137" y="2157412"/>
            <a:ext cx="6943725" cy="3409950"/>
          </a:xfrm>
          <a:prstGeom prst="roundRect">
            <a:avLst>
              <a:gd name="adj" fmla="val 0"/>
            </a:avLst>
          </a:prstGeom>
          <a:solidFill>
            <a:srgbClr val="1E293B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9" name="Google Shape;159;p20"/>
          <p:cNvGraphicFramePr/>
          <p:nvPr/>
        </p:nvGraphicFramePr>
        <p:xfrm>
          <a:off x="2624137" y="215741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{8A6BC955-F112-489C-BDE2-42C562649C5A}</a:tableStyleId>
              </a:tblPr>
              <a:tblGrid>
                <a:gridCol w="1400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3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9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2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22D3E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Feature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22D3E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Symmetric Keys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22D3E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Asymmetric Keys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2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Algorithm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AES-256-GCM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RSA (2048-4096), ECC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2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Data Access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Same key encrypts/decrypts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Public (Encrypt) / Private (Decrypt)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2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Use Case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AWS Services integration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Signing, external sharing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2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Compliance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FIPS 140-2 Level 2/3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FIPS 140-2 Level 2/3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0" name="Google Shape;160;p20"/>
          <p:cNvSpPr/>
          <p:nvPr/>
        </p:nvSpPr>
        <p:spPr>
          <a:xfrm>
            <a:off x="2624137" y="2857500"/>
            <a:ext cx="14001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4024312" y="2857500"/>
            <a:ext cx="25336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6557962" y="2857500"/>
            <a:ext cx="30099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2624137" y="3533775"/>
            <a:ext cx="14001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4024312" y="3533775"/>
            <a:ext cx="25336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6557962" y="3533775"/>
            <a:ext cx="30099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2624137" y="4210050"/>
            <a:ext cx="14001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4024312" y="4210050"/>
            <a:ext cx="25336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6557962" y="4210050"/>
            <a:ext cx="30099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2624137" y="4886325"/>
            <a:ext cx="14001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4024312" y="4886325"/>
            <a:ext cx="25336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6557962" y="4886325"/>
            <a:ext cx="30099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SUPPORTED KEY TYPES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1"/>
          <p:cNvSpPr txBox="1"/>
          <p:nvPr/>
        </p:nvSpPr>
        <p:spPr>
          <a:xfrm>
            <a:off x="571500" y="2962275"/>
            <a:ext cx="528637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0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99.99</a:t>
            </a:r>
            <a:endParaRPr/>
          </a:p>
        </p:txBody>
      </p:sp>
      <p:sp>
        <p:nvSpPr>
          <p:cNvPr id="179" name="Google Shape;179;p21"/>
          <p:cNvSpPr txBox="1"/>
          <p:nvPr/>
        </p:nvSpPr>
        <p:spPr>
          <a:xfrm>
            <a:off x="571500" y="4486275"/>
            <a:ext cx="52863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PERCENT SLA AVAILABILITY</a:t>
            </a:r>
            <a:endParaRPr/>
          </a:p>
        </p:txBody>
      </p:sp>
      <p:sp>
        <p:nvSpPr>
          <p:cNvPr id="180" name="Google Shape;180;p21"/>
          <p:cNvSpPr txBox="1"/>
          <p:nvPr/>
        </p:nvSpPr>
        <p:spPr>
          <a:xfrm>
            <a:off x="6334125" y="2919412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Highly Durable Architecture</a:t>
            </a:r>
            <a:endParaRPr/>
          </a:p>
        </p:txBody>
      </p:sp>
      <p:sp>
        <p:nvSpPr>
          <p:cNvPr id="181" name="Google Shape;181;p21"/>
          <p:cNvSpPr txBox="1"/>
          <p:nvPr/>
        </p:nvSpPr>
        <p:spPr>
          <a:xfrm>
            <a:off x="6334125" y="3471862"/>
            <a:ext cx="528637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AWS KMS is designed for </a:t>
            </a:r>
            <a:r>
              <a:rPr lang="en-US" sz="150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99.999999999% durability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of your keys. Keys are stored redundantly across multiple availability zones within a region to ensure they are never lost.</a:t>
            </a:r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UNRIVALED AVAILABILITY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2"/>
          <p:cNvSpPr/>
          <p:nvPr/>
        </p:nvSpPr>
        <p:spPr>
          <a:xfrm>
            <a:off x="5619750" y="2890837"/>
            <a:ext cx="95250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2"/>
          <p:cNvSpPr txBox="1"/>
          <p:nvPr/>
        </p:nvSpPr>
        <p:spPr>
          <a:xfrm>
            <a:off x="295275" y="3214687"/>
            <a:ext cx="116014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Advanced Lifecycle</a:t>
            </a:r>
            <a:endParaRPr/>
          </a:p>
        </p:txBody>
      </p:sp>
      <p:sp>
        <p:nvSpPr>
          <p:cNvPr id="190" name="Google Shape;190;p22"/>
          <p:cNvSpPr txBox="1"/>
          <p:nvPr/>
        </p:nvSpPr>
        <p:spPr>
          <a:xfrm>
            <a:off x="571500" y="3681412"/>
            <a:ext cx="7620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Managing the End-to-End Workflow of Cryptographic Material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3"/>
          <p:cNvSpPr/>
          <p:nvPr/>
        </p:nvSpPr>
        <p:spPr>
          <a:xfrm>
            <a:off x="571500" y="3843337"/>
            <a:ext cx="1104900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3"/>
          <p:cNvSpPr/>
          <p:nvPr/>
        </p:nvSpPr>
        <p:spPr>
          <a:xfrm>
            <a:off x="1451595" y="37480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38100" cap="flat" cmpd="sng">
            <a:solidFill>
              <a:srgbClr val="0B11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3"/>
          <p:cNvSpPr/>
          <p:nvPr/>
        </p:nvSpPr>
        <p:spPr>
          <a:xfrm>
            <a:off x="3716610" y="37480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38100" cap="flat" cmpd="sng">
            <a:solidFill>
              <a:srgbClr val="0B11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3"/>
          <p:cNvSpPr/>
          <p:nvPr/>
        </p:nvSpPr>
        <p:spPr>
          <a:xfrm>
            <a:off x="5981625" y="37480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38100" cap="flat" cmpd="sng">
            <a:solidFill>
              <a:srgbClr val="0B11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3"/>
          <p:cNvSpPr/>
          <p:nvPr/>
        </p:nvSpPr>
        <p:spPr>
          <a:xfrm>
            <a:off x="8246640" y="37480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38100" cap="flat" cmpd="sng">
            <a:solidFill>
              <a:srgbClr val="0B11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3"/>
          <p:cNvSpPr/>
          <p:nvPr/>
        </p:nvSpPr>
        <p:spPr>
          <a:xfrm>
            <a:off x="10511656" y="37480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38100" cap="flat" cmpd="sng">
            <a:solidFill>
              <a:srgbClr val="0B11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3"/>
          <p:cNvSpPr txBox="1"/>
          <p:nvPr/>
        </p:nvSpPr>
        <p:spPr>
          <a:xfrm>
            <a:off x="521780" y="4243387"/>
            <a:ext cx="208822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Creation</a:t>
            </a:r>
            <a:endParaRPr/>
          </a:p>
        </p:txBody>
      </p:sp>
      <p:sp>
        <p:nvSpPr>
          <p:cNvPr id="203" name="Google Shape;203;p23"/>
          <p:cNvSpPr txBox="1"/>
          <p:nvPr/>
        </p:nvSpPr>
        <p:spPr>
          <a:xfrm>
            <a:off x="571500" y="4691062"/>
            <a:ext cx="198879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Generate key material</a:t>
            </a:r>
            <a:endParaRPr/>
          </a:p>
        </p:txBody>
      </p:sp>
      <p:sp>
        <p:nvSpPr>
          <p:cNvPr id="204" name="Google Shape;204;p23"/>
          <p:cNvSpPr txBox="1"/>
          <p:nvPr/>
        </p:nvSpPr>
        <p:spPr>
          <a:xfrm>
            <a:off x="2786795" y="2557462"/>
            <a:ext cx="208822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Policy</a:t>
            </a:r>
            <a:endParaRPr/>
          </a:p>
        </p:txBody>
      </p:sp>
      <p:sp>
        <p:nvSpPr>
          <p:cNvPr id="205" name="Google Shape;205;p23"/>
          <p:cNvSpPr txBox="1"/>
          <p:nvPr/>
        </p:nvSpPr>
        <p:spPr>
          <a:xfrm>
            <a:off x="2836515" y="3005137"/>
            <a:ext cx="198879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Assign usage rights</a:t>
            </a:r>
            <a:endParaRPr/>
          </a:p>
        </p:txBody>
      </p:sp>
      <p:sp>
        <p:nvSpPr>
          <p:cNvPr id="206" name="Google Shape;206;p23"/>
          <p:cNvSpPr txBox="1"/>
          <p:nvPr/>
        </p:nvSpPr>
        <p:spPr>
          <a:xfrm>
            <a:off x="5051810" y="4243387"/>
            <a:ext cx="208822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Rotation</a:t>
            </a:r>
            <a:endParaRPr/>
          </a:p>
        </p:txBody>
      </p:sp>
      <p:sp>
        <p:nvSpPr>
          <p:cNvPr id="207" name="Google Shape;207;p23"/>
          <p:cNvSpPr txBox="1"/>
          <p:nvPr/>
        </p:nvSpPr>
        <p:spPr>
          <a:xfrm>
            <a:off x="5101530" y="4691062"/>
            <a:ext cx="198879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Auto-refresh keys</a:t>
            </a:r>
            <a:endParaRPr/>
          </a:p>
        </p:txBody>
      </p:sp>
      <p:sp>
        <p:nvSpPr>
          <p:cNvPr id="208" name="Google Shape;208;p23"/>
          <p:cNvSpPr txBox="1"/>
          <p:nvPr/>
        </p:nvSpPr>
        <p:spPr>
          <a:xfrm>
            <a:off x="7316825" y="2557462"/>
            <a:ext cx="208822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Auditing</a:t>
            </a:r>
            <a:endParaRPr/>
          </a:p>
        </p:txBody>
      </p:sp>
      <p:sp>
        <p:nvSpPr>
          <p:cNvPr id="209" name="Google Shape;209;p23"/>
          <p:cNvSpPr txBox="1"/>
          <p:nvPr/>
        </p:nvSpPr>
        <p:spPr>
          <a:xfrm>
            <a:off x="7366545" y="3005137"/>
            <a:ext cx="198879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Log via CloudTrail</a:t>
            </a:r>
            <a:endParaRPr/>
          </a:p>
        </p:txBody>
      </p:sp>
      <p:sp>
        <p:nvSpPr>
          <p:cNvPr id="210" name="Google Shape;210;p23"/>
          <p:cNvSpPr txBox="1"/>
          <p:nvPr/>
        </p:nvSpPr>
        <p:spPr>
          <a:xfrm>
            <a:off x="9581841" y="4243387"/>
            <a:ext cx="208822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Deletion</a:t>
            </a:r>
            <a:endParaRPr/>
          </a:p>
        </p:txBody>
      </p:sp>
      <p:sp>
        <p:nvSpPr>
          <p:cNvPr id="211" name="Google Shape;211;p23"/>
          <p:cNvSpPr txBox="1"/>
          <p:nvPr/>
        </p:nvSpPr>
        <p:spPr>
          <a:xfrm>
            <a:off x="9631560" y="4691062"/>
            <a:ext cx="198879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7-30 day wait period</a:t>
            </a:r>
            <a:endParaRPr/>
          </a:p>
        </p:txBody>
      </p:sp>
      <p:sp>
        <p:nvSpPr>
          <p:cNvPr id="212" name="Google Shape;212;p23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KEY LIFECYCLE MANAGEMENT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5738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4"/>
          <p:cNvSpPr txBox="1"/>
          <p:nvPr/>
        </p:nvSpPr>
        <p:spPr>
          <a:xfrm>
            <a:off x="571500" y="2538412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Global Data Consistency</a:t>
            </a:r>
            <a:endParaRPr/>
          </a:p>
        </p:txBody>
      </p:sp>
      <p:sp>
        <p:nvSpPr>
          <p:cNvPr id="220" name="Google Shape;220;p24"/>
          <p:cNvSpPr txBox="1"/>
          <p:nvPr/>
        </p:nvSpPr>
        <p:spPr>
          <a:xfrm>
            <a:off x="571500" y="3090862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Multi-Region keys allow you to replicate keys across AWS Regions. This is critical for disaster recovery and cross-region application consistency.</a:t>
            </a:r>
            <a:endParaRPr/>
          </a:p>
        </p:txBody>
      </p:sp>
      <p:sp>
        <p:nvSpPr>
          <p:cNvPr id="221" name="Google Shape;221;p24"/>
          <p:cNvSpPr txBox="1"/>
          <p:nvPr/>
        </p:nvSpPr>
        <p:spPr>
          <a:xfrm>
            <a:off x="571500" y="4138612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They share the same </a:t>
            </a:r>
            <a:r>
              <a:rPr lang="en-US" sz="150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Key ID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lang="en-US" sz="150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Material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allowing data encrypted in Oregon to be decrypted in Ireland effortlessly.</a:t>
            </a:r>
            <a:endParaRPr/>
          </a:p>
        </p:txBody>
      </p:sp>
      <p:pic>
        <p:nvPicPr>
          <p:cNvPr id="222" name="Google Shape;222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966912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4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MULTI-REGION REPLICATION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38275"/>
            <a:ext cx="11049000" cy="484822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5"/>
          <p:cNvSpPr txBox="1"/>
          <p:nvPr/>
        </p:nvSpPr>
        <p:spPr>
          <a:xfrm>
            <a:off x="571500" y="5300662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KMS automatically scales to handle thousands of requests per second. Using </a:t>
            </a:r>
            <a:r>
              <a:rPr lang="en-US" sz="150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Requests per Second (RPS)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as a baseline, KMS ensures no bottleneck for high-traffic apps.</a:t>
            </a:r>
            <a:endParaRPr/>
          </a:p>
        </p:txBody>
      </p:sp>
      <p:sp>
        <p:nvSpPr>
          <p:cNvPr id="231" name="Google Shape;231;p25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KMS SCALABILITY TRENDS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6"/>
          <p:cNvSpPr txBox="1"/>
          <p:nvPr/>
        </p:nvSpPr>
        <p:spPr>
          <a:xfrm>
            <a:off x="1919287" y="2890837"/>
            <a:ext cx="8829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Enable Automatic Rotation: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Schedule key rotation to reduce the impact of key compromise.</a:t>
            </a:r>
            <a:endParaRPr/>
          </a:p>
        </p:txBody>
      </p:sp>
      <p:sp>
        <p:nvSpPr>
          <p:cNvPr id="238" name="Google Shape;238;p26"/>
          <p:cNvSpPr txBox="1"/>
          <p:nvPr/>
        </p:nvSpPr>
        <p:spPr>
          <a:xfrm>
            <a:off x="1919287" y="3414712"/>
            <a:ext cx="8829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Audit Everything: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Monitor all KMS API calls using AWS CloudTrail to detect unauthorized access.</a:t>
            </a:r>
            <a:endParaRPr/>
          </a:p>
        </p:txBody>
      </p:sp>
      <p:sp>
        <p:nvSpPr>
          <p:cNvPr id="239" name="Google Shape;239;p26"/>
          <p:cNvSpPr txBox="1"/>
          <p:nvPr/>
        </p:nvSpPr>
        <p:spPr>
          <a:xfrm>
            <a:off x="1919287" y="3938587"/>
            <a:ext cx="8829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Principle of Least Privilege: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Separate Key Administrators from Key Users in policies.</a:t>
            </a:r>
            <a:endParaRPr/>
          </a:p>
        </p:txBody>
      </p:sp>
      <p:sp>
        <p:nvSpPr>
          <p:cNvPr id="240" name="Google Shape;240;p26"/>
          <p:cNvSpPr txBox="1"/>
          <p:nvPr/>
        </p:nvSpPr>
        <p:spPr>
          <a:xfrm>
            <a:off x="1919287" y="4462462"/>
            <a:ext cx="8829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Use Aliases: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Reference keys by alias to allow for easier rotation and application updates.</a:t>
            </a:r>
            <a:endParaRPr/>
          </a:p>
        </p:txBody>
      </p:sp>
      <p:pic>
        <p:nvPicPr>
          <p:cNvPr id="241" name="Google Shape;241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43037" y="29289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43037" y="3452812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43037" y="397668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43037" y="4500562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6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OPERATIONAL BEST PRACTICES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520</Words>
  <Application>Microsoft Office PowerPoint</Application>
  <PresentationFormat>Widescreen</PresentationFormat>
  <Paragraphs>70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Calibri</vt:lpstr>
      <vt:lpstr>Arial</vt:lpstr>
      <vt:lpstr>Urbanist</vt:lpstr>
      <vt:lpstr>Inter</vt:lpstr>
      <vt:lpstr>Inter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naseroddin baba</cp:lastModifiedBy>
  <cp:revision>1</cp:revision>
  <dcterms:modified xsi:type="dcterms:W3CDTF">2026-03-18T06:56:13Z</dcterms:modified>
</cp:coreProperties>
</file>