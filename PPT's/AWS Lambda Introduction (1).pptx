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Relationship Id="rId6" Type="http://schemas.openxmlformats.org/officeDocument/2006/relationships/image" Target="../media/image20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Relationship Id="rId7" Type="http://schemas.openxmlformats.org/officeDocument/2006/relationships/image" Target="../media/image68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Relationship Id="rId9" Type="http://schemas.openxmlformats.org/officeDocument/2006/relationships/image" Target="../media/image69.png"/><Relationship Id="rId5" Type="http://schemas.openxmlformats.org/officeDocument/2006/relationships/image" Target="../media/image24.png"/><Relationship Id="rId6" Type="http://schemas.openxmlformats.org/officeDocument/2006/relationships/image" Target="../media/image41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33.png"/><Relationship Id="rId8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38.png"/><Relationship Id="rId6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42.png"/><Relationship Id="rId5" Type="http://schemas.openxmlformats.org/officeDocument/2006/relationships/image" Target="../media/image34.png"/><Relationship Id="rId6" Type="http://schemas.openxmlformats.org/officeDocument/2006/relationships/image" Target="../media/image49.png"/><Relationship Id="rId7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Relationship Id="rId9" Type="http://schemas.openxmlformats.org/officeDocument/2006/relationships/image" Target="../media/image60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47.png"/><Relationship Id="rId8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59.png"/><Relationship Id="rId5" Type="http://schemas.openxmlformats.org/officeDocument/2006/relationships/image" Target="../media/image53.png"/><Relationship Id="rId6" Type="http://schemas.openxmlformats.org/officeDocument/2006/relationships/image" Target="../media/image55.png"/><Relationship Id="rId7" Type="http://schemas.openxmlformats.org/officeDocument/2006/relationships/image" Target="../media/image52.png"/><Relationship Id="rId8" Type="http://schemas.openxmlformats.org/officeDocument/2006/relationships/image" Target="../media/image6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66.png"/><Relationship Id="rId7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5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67.png"/><Relationship Id="rId9" Type="http://schemas.openxmlformats.org/officeDocument/2006/relationships/image" Target="../media/image61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80610" y="2000250"/>
            <a:ext cx="6230778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AWS Lambda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110037" y="3581400"/>
            <a:ext cx="3971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Serverless Computing in AWS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443412" y="4914900"/>
            <a:ext cx="3305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79596"/>
                </a:solidFill>
                <a:latin typeface="Lato"/>
                <a:ea typeface="Lato"/>
                <a:cs typeface="Lato"/>
                <a:sym typeface="Lato"/>
              </a:rPr>
              <a:t>Cloud Computing Session | 2024 - 2025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571500"/>
            <a:ext cx="9906000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905000" y="2233612"/>
            <a:ext cx="8953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Serverless Compute Service: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Run code without managing or provisioning servers.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905000" y="3319462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Zero Management: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AWS handles hardware, OS, and runtime maintenance.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905000" y="4005262"/>
            <a:ext cx="8953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Automatic Scaling: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Automatically scales from a few requests to thousands per second.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905000" y="5091112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Event-Driven: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Perfect for responsive, real-time application workloads.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276475"/>
            <a:ext cx="4095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36232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04812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5133975"/>
            <a:ext cx="2857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Introduction to AWS Lambda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05012"/>
            <a:ext cx="52387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24312"/>
            <a:ext cx="52387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57250" y="2243137"/>
            <a:ext cx="495061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Focus on Code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2833687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Developers spend time on logic, not infrastructure configuration.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57250" y="4262437"/>
            <a:ext cx="495061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Managed Availability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57250" y="4852987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High availability and fault tolerance are built directly into the service.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What is Serverless Computing?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5050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05050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05050"/>
            <a:ext cx="3492549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84236" y="349567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No Servers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52500" y="4086225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Completely abstracts the underlying hardware and operating system.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62535" y="349567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Scaling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730799" y="4086225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Instantly scales up or down based on the incoming request traffic.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440835" y="3495675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Pay-per-use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509099" y="4086225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Charged only for the milliseconds your code actually executes.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7336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73367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7599" y="2733675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Key Features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6525"/>
            <a:ext cx="243066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2676525"/>
            <a:ext cx="243066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860" y="2676525"/>
            <a:ext cx="243066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541" y="2676525"/>
            <a:ext cx="2430660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571500" y="3929062"/>
            <a:ext cx="11049000" cy="38100"/>
          </a:xfrm>
          <a:prstGeom prst="rect">
            <a:avLst/>
          </a:prstGeom>
          <a:solidFill>
            <a:srgbClr val="EA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720759" y="2876550"/>
            <a:ext cx="21321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1. Upload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71525" y="3381375"/>
            <a:ext cx="203061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Upload your code as a ZIP file or container image.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3593440" y="2876550"/>
            <a:ext cx="21321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2. Trigger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3644205" y="3381375"/>
            <a:ext cx="203061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Define an event trigger from an AWS service (e.g. S3).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466120" y="2876550"/>
            <a:ext cx="21321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3. Execute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516885" y="3381375"/>
            <a:ext cx="203061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Lambda runs your function only when triggered.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338801" y="2876550"/>
            <a:ext cx="21321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4. Return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389566" y="3381375"/>
            <a:ext cx="203061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Process the data and return a response or output.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How AWS Lambda Works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1691580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4564260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7436941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10309621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1143000" y="1833562"/>
            <a:ext cx="4667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Event Source: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The trigger (e.g., API request, file upload).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143000" y="2919412"/>
            <a:ext cx="4667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Lambda Function: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Your actual application code.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143000" y="4005262"/>
            <a:ext cx="4667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Execution Env: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Temporary isolated compute runtime.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143000" y="5091112"/>
            <a:ext cx="4667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Output: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Response sent to user or next service.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876425"/>
            <a:ext cx="2476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62275"/>
            <a:ext cx="4095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48125"/>
            <a:ext cx="285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133975"/>
            <a:ext cx="3238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High-Level Architecture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9837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09837"/>
            <a:ext cx="3555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09837"/>
            <a:ext cx="355609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482601" y="5033962"/>
            <a:ext cx="37337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Python &amp; Node.js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229051" y="5033962"/>
            <a:ext cx="37337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Java &amp; C#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975498" y="5033962"/>
            <a:ext cx="373390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Go &amp; Ruby</a:t>
            </a:r>
            <a:endParaRPr/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519362"/>
            <a:ext cx="35369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17975" y="2709862"/>
            <a:ext cx="31559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64425" y="2709862"/>
            <a:ext cx="3156049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Supported Programming Languages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7925"/>
            <a:ext cx="3492549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47925"/>
            <a:ext cx="3492549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47925"/>
            <a:ext cx="3492549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884236" y="3638550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Amazon S3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952500" y="4229100"/>
            <a:ext cx="2730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Process files immediately after upload.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662535" y="3638550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API Gateway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4730799" y="4229100"/>
            <a:ext cx="2730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Build RESTful endpoints for web apps.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440835" y="3638550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DynamoDB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509099" y="4229100"/>
            <a:ext cx="2730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Trigger logic based on database changes.</a:t>
            </a:r>
            <a:endParaRPr/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8150" y="287655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5962" y="287655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4749" y="287655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Common Triggers / Event Sources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6953250" y="2233612"/>
            <a:ext cx="4667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Works with </a:t>
            </a: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Amazon S3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for storage tasks.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953250" y="3319462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API Gateway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for secure API backends.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953250" y="4005262"/>
            <a:ext cx="4667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DynamoDB Streams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for data workflows.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953250" y="5091112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CloudWatch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for logs and monitoring.</a:t>
            </a:r>
            <a:endParaRPr/>
          </a:p>
        </p:txBody>
      </p:sp>
      <p:pic>
        <p:nvPicPr>
          <p:cNvPr descr="image.png" id="226" name="Google Shape;22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276475"/>
            <a:ext cx="285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62325"/>
            <a:ext cx="285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048125"/>
            <a:ext cx="285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133975"/>
            <a:ext cx="2857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Integration with AWS Services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1905000" y="2633662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Operational Simplicity: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No servers to maintain or patch.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905000" y="3319462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Scale Automatically: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Handles spikes without manual effort.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905000" y="4005262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Cost Efficiency: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No payment for idle compute time.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905000" y="4691062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Reliability: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Built-in redundancy and high availability.</a:t>
            </a:r>
            <a:endParaRPr/>
          </a:p>
        </p:txBody>
      </p:sp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676525"/>
            <a:ext cx="4095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36232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048125"/>
            <a:ext cx="3619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733925"/>
            <a:ext cx="3238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Advantages of AWS Lambda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7925"/>
            <a:ext cx="3492549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47925"/>
            <a:ext cx="3492549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47925"/>
            <a:ext cx="3492549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884236" y="3638550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Execution Time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952500" y="4229100"/>
            <a:ext cx="2730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Max timeout is 15 minutes per invocation.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4662535" y="3638550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Cold Starts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730799" y="4229100"/>
            <a:ext cx="2730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Slight delay during initial initialization.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440835" y="3638550"/>
            <a:ext cx="286707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Short-running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8509099" y="4229100"/>
            <a:ext cx="2730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Not ideal for multi-hour processing tasks.</a:t>
            </a:r>
            <a:endParaRPr/>
          </a:p>
        </p:txBody>
      </p:sp>
      <p:pic>
        <p:nvPicPr>
          <p:cNvPr descr="image.png" id="261" name="Google Shape;26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8765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6450" y="287655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4749" y="287655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Limitations &amp; Considerations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6581775" y="3538537"/>
            <a:ext cx="503872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Pay per Request:</a:t>
            </a:r>
            <a:r>
              <a:rPr b="0" i="0" lang="en-US" sz="18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$0.20 per 1 million requests.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Pay per Execution:</a:t>
            </a:r>
            <a:r>
              <a:rPr b="0" i="0" lang="en-US" sz="18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Based on memory size and compute time.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571500" y="3028950"/>
            <a:ext cx="21621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1M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571500" y="4457700"/>
            <a:ext cx="21621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Requests Free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3305175" y="3028950"/>
            <a:ext cx="32766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400k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3305175" y="4457700"/>
            <a:ext cx="3276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GB-Sec Free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AWS Lambda Pricing Model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143000" y="2633662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User uploads photo to </a:t>
            </a: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S3 bucket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143000" y="3319462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S3 sends </a:t>
            </a: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Trigger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to Lambda.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1143000" y="4005262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Lambda </a:t>
            </a: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Resizes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the image instantly.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143000" y="4691062"/>
            <a:ext cx="4667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New image saved to </a:t>
            </a: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Another S3 bucket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289" name="Google Shape;28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76525"/>
            <a:ext cx="1619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62325"/>
            <a:ext cx="2095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48125"/>
            <a:ext cx="2095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733925"/>
            <a:ext cx="2476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Example: Image Processing</a:t>
            </a: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/>
          <p:nvPr/>
        </p:nvSpPr>
        <p:spPr>
          <a:xfrm>
            <a:off x="1905000" y="2633662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Small &amp; Focused: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Keep functions specialized (one task per function).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1905000" y="3319462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IAM Roles: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Use least-privilege permissions for security.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1905000" y="4005262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Monitoring: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Always use CloudWatch for logs and metrics.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1905000" y="4691062"/>
            <a:ext cx="8953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Optimization:</a:t>
            </a:r>
            <a:r>
              <a:rPr b="0" i="0" lang="en-US" sz="21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 Tune memory and timeout settings for efficiency.</a:t>
            </a:r>
            <a:endParaRPr/>
          </a:p>
        </p:txBody>
      </p:sp>
      <p:pic>
        <p:nvPicPr>
          <p:cNvPr descr="image.png" id="304" name="Google Shape;30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67652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362325"/>
            <a:ext cx="4095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048125"/>
            <a:ext cx="3238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733925"/>
            <a:ext cx="3238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Best Practices for Success</a:t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/>
          <p:nvPr/>
        </p:nvSpPr>
        <p:spPr>
          <a:xfrm>
            <a:off x="475059" y="2924175"/>
            <a:ext cx="4050506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4429125" y="3400425"/>
            <a:ext cx="287387" cy="571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 txBox="1"/>
          <p:nvPr/>
        </p:nvSpPr>
        <p:spPr>
          <a:xfrm>
            <a:off x="4716512" y="2286000"/>
            <a:ext cx="412611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AWS Lambda simplifies application deployment and powers modern event-driven architectures with high scale and low cost.</a:t>
            </a:r>
            <a:endParaRPr/>
          </a:p>
        </p:txBody>
      </p:sp>
      <p:pic>
        <p:nvPicPr>
          <p:cNvPr descr="image.png" id="318" name="Google Shape;3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2623" y="2952750"/>
            <a:ext cx="2777876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8"/>
          <p:cNvSpPr/>
          <p:nvPr/>
        </p:nvSpPr>
        <p:spPr>
          <a:xfrm>
            <a:off x="895350" y="1619250"/>
            <a:ext cx="1040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895350" y="2390775"/>
            <a:ext cx="1040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895350" y="3162300"/>
            <a:ext cx="1040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895350" y="3933825"/>
            <a:ext cx="1040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895350" y="4705350"/>
            <a:ext cx="1040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895350" y="2381250"/>
            <a:ext cx="10401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895350" y="2381250"/>
            <a:ext cx="10401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895350" y="3152775"/>
            <a:ext cx="10401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895350" y="3152775"/>
            <a:ext cx="10401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895350" y="3924300"/>
            <a:ext cx="10401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895350" y="3924300"/>
            <a:ext cx="10401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895350" y="4695825"/>
            <a:ext cx="10401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895350" y="4695825"/>
            <a:ext cx="10401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895350" y="5467350"/>
            <a:ext cx="10401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895350" y="5467350"/>
            <a:ext cx="10401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9" name="Google Shape;33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" y="1762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8"/>
          <p:cNvSpPr txBox="1"/>
          <p:nvPr/>
        </p:nvSpPr>
        <p:spPr>
          <a:xfrm>
            <a:off x="1990725" y="1769268"/>
            <a:ext cx="93059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https://miro.medium.com/1*Gxz-GjfXj4nzJxU472kvzw.png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1990725" y="2002631"/>
            <a:ext cx="9305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itnext.io</a:t>
            </a:r>
            <a:endParaRPr/>
          </a:p>
        </p:txBody>
      </p:sp>
      <p:pic>
        <p:nvPicPr>
          <p:cNvPr descr="image.png" id="342" name="Google Shape;34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" y="2533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8"/>
          <p:cNvSpPr txBox="1"/>
          <p:nvPr/>
        </p:nvSpPr>
        <p:spPr>
          <a:xfrm>
            <a:off x="1990725" y="2540793"/>
            <a:ext cx="93059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https://static.vecteezy.com/system/resources/previews/046/118/794/non_2x/serverless-computing-concept-flat-illustration-vector.jpg</a:t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1990725" y="2774156"/>
            <a:ext cx="9305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345" name="Google Shape;34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3305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 txBox="1"/>
          <p:nvPr/>
        </p:nvSpPr>
        <p:spPr>
          <a:xfrm>
            <a:off x="1990725" y="3312318"/>
            <a:ext cx="93059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https://imgopt.infoq.com/fit-in/3000x4000/filters:quality(85)/filters:no_upscale()/articles/event-driven-architecture-clouds/en/resources/35figure-1-1687173481115.jpg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1990725" y="3545681"/>
            <a:ext cx="9305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www.infoq.com</a:t>
            </a:r>
            <a:endParaRPr/>
          </a:p>
        </p:txBody>
      </p:sp>
      <p:pic>
        <p:nvPicPr>
          <p:cNvPr descr="image.png" id="348" name="Google Shape;348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5350" y="4076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 txBox="1"/>
          <p:nvPr/>
        </p:nvSpPr>
        <p:spPr>
          <a:xfrm>
            <a:off x="1990725" y="4083843"/>
            <a:ext cx="93059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https://bairesdev.mo.cloudinary.net/blog/2020/10/top-programming-languages.png?tx=w_1920,q_auto</a:t>
            </a:r>
            <a:endParaRPr/>
          </a:p>
        </p:txBody>
      </p:sp>
      <p:sp>
        <p:nvSpPr>
          <p:cNvPr id="350" name="Google Shape;350;p28"/>
          <p:cNvSpPr txBox="1"/>
          <p:nvPr/>
        </p:nvSpPr>
        <p:spPr>
          <a:xfrm>
            <a:off x="1990725" y="4317206"/>
            <a:ext cx="9305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www.bairesdev.com</a:t>
            </a:r>
            <a:endParaRPr/>
          </a:p>
        </p:txBody>
      </p:sp>
      <p:pic>
        <p:nvPicPr>
          <p:cNvPr descr="image.png" id="351" name="Google Shape;35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5350" y="4848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 txBox="1"/>
          <p:nvPr/>
        </p:nvSpPr>
        <p:spPr>
          <a:xfrm>
            <a:off x="1990725" y="4855368"/>
            <a:ext cx="93059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https://sparxsystems.com/products/ea/15.2/images/aws-connected-vehicle-solution.png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1990725" y="5088731"/>
            <a:ext cx="9305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sparxsystems.com</a:t>
            </a:r>
            <a:endParaRPr/>
          </a:p>
        </p:txBody>
      </p:sp>
      <p:pic>
        <p:nvPicPr>
          <p:cNvPr descr="image.png" id="354" name="Google Shape;354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5350" y="56197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8"/>
          <p:cNvSpPr txBox="1"/>
          <p:nvPr/>
        </p:nvSpPr>
        <p:spPr>
          <a:xfrm>
            <a:off x="1990725" y="5626893"/>
            <a:ext cx="93059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https://cdn-icons-png.flaticon.com/512/9423/9423110.png</a:t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1990725" y="5860256"/>
            <a:ext cx="9305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www.flaticon.com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58" name="Google Shape;358;p2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