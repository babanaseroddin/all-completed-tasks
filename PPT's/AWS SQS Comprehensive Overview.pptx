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Urbanist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7498F2-B40E-4DA6-9326-98A654781B1A}">
  <a:tblStyle styleId="{827498F2-B40E-4DA6-9326-98A654781B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delSld">
      <pc:chgData name="naseroddin baba" userId="3d31b25fe7691ce1" providerId="LiveId" clId="{2CDD16C3-32BE-4282-AD6F-36B9E582E20C}" dt="2026-03-18T06:47:53.892" v="2" actId="47"/>
      <pc:docMkLst>
        <pc:docMk/>
      </pc:docMkLst>
      <pc:sldChg chg="del">
        <pc:chgData name="naseroddin baba" userId="3d31b25fe7691ce1" providerId="LiveId" clId="{2CDD16C3-32BE-4282-AD6F-36B9E582E20C}" dt="2026-03-18T06:47:53.892" v="2" actId="47"/>
        <pc:sldMkLst>
          <pc:docMk/>
          <pc:sldMk cId="0" sldId="275"/>
        </pc:sldMkLst>
      </pc:sldChg>
      <pc:sldChg chg="del">
        <pc:chgData name="naseroddin baba" userId="3d31b25fe7691ce1" providerId="LiveId" clId="{2CDD16C3-32BE-4282-AD6F-36B9E582E20C}" dt="2026-03-18T06:47:50.713" v="0" actId="47"/>
        <pc:sldMkLst>
          <pc:docMk/>
          <pc:sldMk cId="0" sldId="276"/>
        </pc:sldMkLst>
      </pc:sldChg>
      <pc:sldChg chg="del">
        <pc:chgData name="naseroddin baba" userId="3d31b25fe7691ce1" providerId="LiveId" clId="{2CDD16C3-32BE-4282-AD6F-36B9E582E20C}" dt="2026-03-18T06:47:52.666" v="1" actId="47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11808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AWS CLOUD ARCHITECTURE SERIES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228998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Mastering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Amazon SQS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32820"/>
            <a:ext cx="7620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Decoupling Distributed Systems with High-Performance, Serverless Message Queuing.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04950"/>
            <a:ext cx="5238750" cy="503574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 Pioneer Service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07645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AWS Simple Queue Service (SQS) was the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first service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 launched by AWS in 2004.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56321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a fully managed,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durable message queuing service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that enables you to decouple and scale microservices, distributed systems, and serverless applications.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514475"/>
            <a:ext cx="5219700" cy="501669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047750" y="4677965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infrastructure to manage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47750" y="5298876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 scaling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5919787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Highly available and durable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AWS SQS?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79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9887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91978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3492549" cy="3721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04950"/>
            <a:ext cx="3492549" cy="3721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04950"/>
            <a:ext cx="3492549" cy="372189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52500" y="26860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Decoupling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325755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Allows components to work independently. A failure in the consumer doesn't block the producer.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30799" y="26860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Elasticity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30799" y="325755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Handles spikes in traffic by buffering messages. Scale from zero to billions of messages instantly.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09099" y="26860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09099" y="325755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Messages are stored across multiple Availability Zones (AZs) to prevent data loss.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19335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19335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19335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BENEFITS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04950"/>
            <a:ext cx="5238750" cy="375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The Producer-Consumer Pattern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07645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Producers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send messages to the queue.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62116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Messages are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stored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redundantly in the SQS cluster.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50103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Consumers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poll the queue to retrieve and process messages.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4380904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After successful processing, the consumer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deletes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message to prevent re-processing.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514475"/>
            <a:ext cx="5219700" cy="373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ARCHITECTURE OVERVIEW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14475"/>
            <a:ext cx="1381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38175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Default Choice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81750" y="207645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queues offer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maximum throughput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best-effort ordering.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858000" y="2956321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Unlimited Throughput: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Scales to nearly infinite TPS.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858000" y="3912393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At-Least-Once Delivery: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message is delivered at least once, but occasionally more than one copy is delivered.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858000" y="5203626"/>
            <a:ext cx="47625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Best-Effort Ordering: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Messages usually leave in the same order they arrived, but no guarantee.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STANDARD QUEUES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5632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91239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2036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049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Order Matters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076450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First-In-First-Out (FIFO) queues are designed for applications where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order and deduplication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are critical.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514475"/>
            <a:ext cx="10953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047750" y="329148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Ordering: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order in which messages are sent and received is strictly preserved.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47750" y="424755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Exactly-Once Processing: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Prevents duplicate messages from being processed.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47750" y="520362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Throughput: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Up to 3,000 req/s with batching.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FIFO QUEUES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9148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4755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036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9"/>
          <p:cNvGraphicFramePr/>
          <p:nvPr/>
        </p:nvGraphicFramePr>
        <p:xfrm>
          <a:off x="571500" y="1695450"/>
          <a:ext cx="11049000" cy="3086125"/>
        </p:xfrm>
        <a:graphic>
          <a:graphicData uri="http://schemas.openxmlformats.org/drawingml/2006/table">
            <a:tbl>
              <a:tblPr firstRow="1" bandRow="1">
                <a:noFill/>
                <a:tableStyleId>{827498F2-B40E-4DA6-9326-98A654781B1A}</a:tableStyleId>
              </a:tblPr>
              <a:tblGrid>
                <a:gridCol w="18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Queue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FIFO Queue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Throughput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Unlimited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 TPS (Standard) / 3,000 (Batch)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Delivery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At-Least-Once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Exactly-Once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Best-Effort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First-In-First-Out (Strict)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Decoupling, batching, notifications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Banking, ticketing, sequence-sensitive tasks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9" name="Google Shape;179;p19"/>
          <p:cNvSpPr/>
          <p:nvPr/>
        </p:nvSpPr>
        <p:spPr>
          <a:xfrm>
            <a:off x="571500" y="2290762"/>
            <a:ext cx="1845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417415" y="2290762"/>
            <a:ext cx="4136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553944" y="2290762"/>
            <a:ext cx="5066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2909887"/>
            <a:ext cx="1845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417415" y="2909887"/>
            <a:ext cx="4136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553944" y="2909887"/>
            <a:ext cx="5066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3529012"/>
            <a:ext cx="1845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417415" y="3529012"/>
            <a:ext cx="4136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553944" y="3529012"/>
            <a:ext cx="5066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4148137"/>
            <a:ext cx="1845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417415" y="4148137"/>
            <a:ext cx="4136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553944" y="4148137"/>
            <a:ext cx="5066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71500" y="4767262"/>
            <a:ext cx="18459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417415" y="4767262"/>
            <a:ext cx="413652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553944" y="4767262"/>
            <a:ext cx="506655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COMPARISON: STANDARD VS FIFO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6295" y="22669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2215" y="22669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8135" y="22669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4055" y="22669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/>
          <p:nvPr/>
        </p:nvSpPr>
        <p:spPr>
          <a:xfrm>
            <a:off x="571500" y="255270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07968" y="3124200"/>
            <a:ext cx="26683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Send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3695700"/>
            <a:ext cx="254124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Producer sends message to SQS endpoint.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3343888" y="3124200"/>
            <a:ext cx="26683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Poll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3407419" y="3695700"/>
            <a:ext cx="254124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Consumer retrieves message from queue.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179808" y="3124200"/>
            <a:ext cx="26683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243339" y="3695700"/>
            <a:ext cx="254124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Message is hidden (Visibility Timeout).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015728" y="3124200"/>
            <a:ext cx="26683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Delete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079259" y="3695700"/>
            <a:ext cx="254124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Consumer deletes message upon success.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MESSAGE LIFECYCLE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951011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VISIBILITY TIMEOUT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2094011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a consumer receives a message, it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stays in the queue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but is hidden from other consumers for a set period.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351859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prevents other consumers from processing the same message simultaneously.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460801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Default: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30 seconds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71500" y="5362277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12 hours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3492549" cy="373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04950"/>
            <a:ext cx="3492549" cy="3731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04950"/>
            <a:ext cx="3492549" cy="373141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952500" y="26860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Error Handling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952500" y="325755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DLQ is a sub-queue used to store messages that can't be processed after multiple attempts.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730799" y="26860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Debugging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730799" y="3257550"/>
            <a:ext cx="27305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Allows developers to inspect "poison messages" without blocking the main workflow.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509099" y="26860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Redrive Policy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509099" y="3257550"/>
            <a:ext cx="2730549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Defines the maxReceiveCount before a message is moved to the DLQ.</a:t>
            </a:r>
            <a:endParaRPr/>
          </a:p>
        </p:txBody>
      </p:sp>
      <p:pic>
        <p:nvPicPr>
          <p:cNvPr id="241" name="Google Shape;24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19335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19335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19335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DEAD LETTER QUEUES (DLQ)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71500" y="55054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Long Polling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reduces costs and empty responses by waiting for messages to arrive before responding.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SHORT POLLING VS LONG POLLING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71500" y="3876675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Postpone the delivery of messages to consumers. Use </a:t>
            </a:r>
            <a:r>
              <a:rPr lang="en-US" sz="21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Delay Queues</a:t>
            </a: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the whole queue or </a:t>
            </a:r>
            <a:r>
              <a:rPr lang="en-US" sz="21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Message Timers</a:t>
            </a: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individual messages.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3481387" y="1981200"/>
            <a:ext cx="22288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15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3481387" y="3124200"/>
            <a:ext cx="22288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MINS MAX DELAY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662737" y="1981200"/>
            <a:ext cx="20478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662737" y="3124200"/>
            <a:ext cx="2047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DEFAULT DELAY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DELAY QUEUES &amp; TIMERS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2396"/>
            <a:ext cx="5238750" cy="292953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57150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Maximize Performance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207645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Reduce costs and API calls by batching operations.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762750" y="2718196"/>
            <a:ext cx="44767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COST SAVINGS: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 UP TO 90%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6762750" y="3998118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utilizing batching vs individual calls.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047750" y="262116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SendMessageBatch: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Send up to 10 messages in one call.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047750" y="357723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ReceiveMessage: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Fetch up to 10 messages (Max 256KB total).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047750" y="453330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DeleteMessageBatch: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Delete multiple messages simultaneously.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BATCHING FOR EFFICIENCY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211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772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33304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5238750" cy="56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14475"/>
            <a:ext cx="5219700" cy="56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638175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Enterprise Security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858000" y="205740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IAM Integration: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AWS IAM policies to control who can send or receive.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6858000" y="3013471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SSE (Server Side Encryption):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Protect data at rest with AWS KMS.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6858000" y="3969543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VPC Endpoints: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Access SQS without traversing the public internet via AWS PrivateLink.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SECURITY &amp; ENCRYPTION</a:t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0574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1347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96954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7"/>
          <p:cNvSpPr txBox="1"/>
          <p:nvPr/>
        </p:nvSpPr>
        <p:spPr>
          <a:xfrm>
            <a:off x="571500" y="1166217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SQS + LAMBDA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571500" y="2309217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ultimate serverless combo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AWS Lambda automatically polls SQS queues and scales based on message volume.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1047750" y="367665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management overhead.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1047750" y="429756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 retry logic.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1047750" y="4918471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Cost-effective execution.</a:t>
            </a:r>
            <a:endParaRPr/>
          </a:p>
        </p:txBody>
      </p:sp>
      <p:pic>
        <p:nvPicPr>
          <p:cNvPr id="311" name="Google Shape;31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766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975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1847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/>
        </p:nvSpPr>
        <p:spPr>
          <a:xfrm>
            <a:off x="6667500" y="1160561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FAN-OUT PATTERN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6667500" y="2303561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Combine </a:t>
            </a:r>
            <a:r>
              <a:rPr lang="en-US" sz="165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SNS and SQS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broadcast messages to multiple consumers.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6667500" y="3392983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a message is published to an SNS topic, it is distributed to multiple SQS queues for parallel processing.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6667500" y="481756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Perfect for logging, analytics, and complex workflows.</a:t>
            </a:r>
            <a:endParaRPr/>
          </a:p>
        </p:txBody>
      </p:sp>
      <p:pic>
        <p:nvPicPr>
          <p:cNvPr id="323" name="Google Shape;32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3492549" cy="2586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04950"/>
            <a:ext cx="3492549" cy="2586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04950"/>
            <a:ext cx="3492549" cy="25866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952500" y="18859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E-Commerce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952500" y="2457450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Handling order placement, inventory updates, and confirmation emails.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4730799" y="18859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Video Encoding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4730799" y="2457450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Buffering high-volume upload tasks for batch processing workers.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8509099" y="1885950"/>
            <a:ext cx="286707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IoT Telemetry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8509099" y="2457450"/>
            <a:ext cx="2730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Ingesting massive streams of sensor data for downstream analysis.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COMMON USE CASES</a:t>
            </a:r>
            <a:endParaRPr/>
          </a:p>
        </p:txBody>
      </p:sp>
      <p:sp>
        <p:nvSpPr>
          <p:cNvPr id="339" name="Google Shape;339;p2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0495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/>
          <p:nvPr/>
        </p:nvSpPr>
        <p:spPr>
          <a:xfrm>
            <a:off x="571500" y="15049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Essential Metrics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571500" y="207645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Track the health of your queues with CloudWatch:</a:t>
            </a:r>
            <a:endParaRPr/>
          </a:p>
        </p:txBody>
      </p:sp>
      <p:pic>
        <p:nvPicPr>
          <p:cNvPr id="348" name="Google Shape;34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86750" y="245745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/>
        </p:nvSpPr>
        <p:spPr>
          <a:xfrm>
            <a:off x="1047750" y="2621160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ApproximateNumberOfMessagesVisible: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queue growing too fast?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1047750" y="3577232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SentMessageSize: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Monitor message payloads.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1047750" y="4198143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NumberOfMessagesDeleted: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Track successful processing.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CLOUDWATCH MONITORING</a:t>
            </a:r>
            <a:endParaRPr/>
          </a:p>
        </p:txBody>
      </p:sp>
      <p:sp>
        <p:nvSpPr>
          <p:cNvPr id="353" name="Google Shape;353;p3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211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772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814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1047750" y="1657350"/>
            <a:ext cx="105727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Enable Long Polling: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Always set WaitTimeSeconds &gt; 0 to save money.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1047750" y="2287785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DLQs: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Always handle failures gracefully.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1047750" y="2908696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Optimize Visibility Timeout: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Ensure it's longer than your max processing time.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1047750" y="3529607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Batch Operations: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Group messages to reduce API overhead.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1047750" y="4150518"/>
            <a:ext cx="105727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Deduplication (FIFO):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MessageDeduplicationId for exactly-once.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BEST PRACTICES</a:t>
            </a: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73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778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0869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96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5051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Widescreen</PresentationFormat>
  <Paragraphs>121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Arial</vt:lpstr>
      <vt:lpstr>Urbanist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2026-03-18T06:47:59Z</dcterms:modified>
</cp:coreProperties>
</file>