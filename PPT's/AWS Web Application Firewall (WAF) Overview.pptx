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Light" panose="020B0604020202020204" charset="0"/>
      <p:regular r:id="rId21"/>
      <p:bold r:id="rId22"/>
      <p:italic r:id="rId23"/>
      <p:boldItalic r:id="rId24"/>
    </p:embeddedFont>
    <p:embeddedFont>
      <p:font typeface="Urbanist" panose="020B0604020202020204" charset="0"/>
      <p:regular r:id="rId25"/>
      <p:bold r:id="rId26"/>
      <p:italic r:id="rId27"/>
      <p:boldItalic r:id="rId28"/>
    </p:embeddedFont>
    <p:embeddedFont>
      <p:font typeface="Urbanist SemiBold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860F1A-D477-4B21-8423-07AC42740DE4}">
  <a:tblStyle styleId="{9F860F1A-D477-4B21-8423-07AC42740DE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12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21" Type="http://schemas.openxmlformats.org/officeDocument/2006/relationships/font" Target="fonts/font5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font" Target="fonts/font16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font" Target="fonts/font1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eroddin baba" userId="3d31b25fe7691ce1" providerId="LiveId" clId="{2CDD16C3-32BE-4282-AD6F-36B9E582E20C}"/>
    <pc:docChg chg="undo custSel addSld delSld modSld">
      <pc:chgData name="naseroddin baba" userId="3d31b25fe7691ce1" providerId="LiveId" clId="{2CDD16C3-32BE-4282-AD6F-36B9E582E20C}" dt="2026-03-18T06:47:10.388" v="7" actId="47"/>
      <pc:docMkLst>
        <pc:docMk/>
      </pc:docMkLst>
      <pc:sldChg chg="del">
        <pc:chgData name="naseroddin baba" userId="3d31b25fe7691ce1" providerId="LiveId" clId="{2CDD16C3-32BE-4282-AD6F-36B9E582E20C}" dt="2026-03-18T06:47:08.330" v="6" actId="47"/>
        <pc:sldMkLst>
          <pc:docMk/>
          <pc:sldMk cId="0" sldId="270"/>
        </pc:sldMkLst>
      </pc:sldChg>
      <pc:sldChg chg="add del">
        <pc:chgData name="naseroddin baba" userId="3d31b25fe7691ce1" providerId="LiveId" clId="{2CDD16C3-32BE-4282-AD6F-36B9E582E20C}" dt="2026-03-18T06:47:05.446" v="5" actId="47"/>
        <pc:sldMkLst>
          <pc:docMk/>
          <pc:sldMk cId="0" sldId="271"/>
        </pc:sldMkLst>
      </pc:sldChg>
      <pc:sldChg chg="delSp add del mod">
        <pc:chgData name="naseroddin baba" userId="3d31b25fe7691ce1" providerId="LiveId" clId="{2CDD16C3-32BE-4282-AD6F-36B9E582E20C}" dt="2026-03-18T06:47:10.388" v="7" actId="47"/>
        <pc:sldMkLst>
          <pc:docMk/>
          <pc:sldMk cId="0" sldId="272"/>
        </pc:sldMkLst>
        <pc:picChg chg="del">
          <ac:chgData name="naseroddin baba" userId="3d31b25fe7691ce1" providerId="LiveId" clId="{2CDD16C3-32BE-4282-AD6F-36B9E582E20C}" dt="2026-03-18T06:46:51.631" v="4" actId="478"/>
          <ac:picMkLst>
            <pc:docMk/>
            <pc:sldMk cId="0" sldId="272"/>
            <ac:picMk id="34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45306" y="2528887"/>
            <a:ext cx="11101387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AWS Web Application </a:t>
            </a:r>
            <a:r>
              <a:rPr lang="en-US" sz="615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Firewall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66925" y="3662362"/>
            <a:ext cx="80581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Comprehensive Protection for Your Web Applications at the Edge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1840468" y="2224087"/>
            <a:ext cx="8511063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Foundation &amp; Concepts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3452812"/>
            <a:ext cx="952500" cy="38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147887" y="3967162"/>
            <a:ext cx="78962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64748B"/>
                </a:solidFill>
                <a:latin typeface="Inter Light"/>
                <a:ea typeface="Inter Light"/>
                <a:cs typeface="Inter Light"/>
                <a:sym typeface="Inter Light"/>
              </a:rPr>
              <a:t>Understanding the Role of WAF in Modern Security Architecture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19512"/>
            <a:ext cx="5286375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F99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WHAT IS AWS WAF?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571500" y="1862137"/>
            <a:ext cx="5286375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AWS WAF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is a web application firewall that helps protect your web applications or APIs against common web exploits and bots that may affect availability, compromise security, or consume excessive resources.</a:t>
            </a:r>
            <a:endParaRPr/>
          </a:p>
        </p:txBody>
      </p:sp>
      <p:pic>
        <p:nvPicPr>
          <p:cNvPr id="104" name="Google Shape;10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43650" y="197643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914400" y="4062412"/>
            <a:ext cx="483060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Value Proposition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14400" y="4595812"/>
            <a:ext cx="46005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Provides granular control over which traffic to allow or block by defining customizable security rules.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F99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NEED FOR LAYER 7 SECURITY</a:t>
            </a:r>
            <a:endParaRPr/>
          </a:p>
        </p:txBody>
      </p:sp>
      <p:pic>
        <p:nvPicPr>
          <p:cNvPr id="114" name="Google Shape;11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76437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000125" y="2405062"/>
            <a:ext cx="48577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Application Level Filtering: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Unlike VPC Security Groups (L3/L4), WAF inspects HTTP/S headers, cookies, and query strings.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000125" y="3538537"/>
            <a:ext cx="48577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OWASP Top 10 Protection: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Specifically designed to mitigate SQL Injection (SQLi) and Cross-Site Scripting (XSS).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000125" y="4672012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Payload Inspection: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Identifies malicious patterns hidden within application data.</a:t>
            </a:r>
            <a:endParaRPr/>
          </a:p>
        </p:txBody>
      </p:sp>
      <p:pic>
        <p:nvPicPr>
          <p:cNvPr id="118" name="Google Shape;11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4050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5385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67201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571500" y="1176337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F99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HOW AWS WAF WORKS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571500" y="2081212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AWS WAF sits between the internet and your resources, acting as an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intelligent filter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for incoming traffic.</a:t>
            </a:r>
            <a:endParaRPr/>
          </a:p>
        </p:txBody>
      </p:sp>
      <p:pic>
        <p:nvPicPr>
          <p:cNvPr id="128" name="Google Shape;12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1000125" y="3424237"/>
            <a:ext cx="4524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Inspects HTTP requests in real-time.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1000125" y="3929062"/>
            <a:ext cx="4524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Matches patterns against defined Web ACL rules.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1000125" y="4748212"/>
            <a:ext cx="4524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Executes actions based on matches (Allow/Block).</a:t>
            </a:r>
            <a:endParaRPr/>
          </a:p>
        </p:txBody>
      </p:sp>
      <p:pic>
        <p:nvPicPr>
          <p:cNvPr id="132" name="Google Shape;13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4242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9290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74821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1700"/>
            <a:ext cx="3492549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171700"/>
            <a:ext cx="3492549" cy="340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171700"/>
            <a:ext cx="3492549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F99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COMPONENTS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914400" y="3228975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Web ACLs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914400" y="3762375"/>
            <a:ext cx="2806749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top-level container that groups rules and specifies default actions for a resource.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4692699" y="3228975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Rules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4692699" y="3762375"/>
            <a:ext cx="2806749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Individual criteria used to inspect web requests for specific malicious patterns.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8470999" y="3228975"/>
            <a:ext cx="29470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Rule Groups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470999" y="3762375"/>
            <a:ext cx="2806749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Reusable collections of rules that can be applied across multiple Web ACLs for consistency.</a:t>
            </a:r>
            <a:endParaRPr/>
          </a:p>
        </p:txBody>
      </p:sp>
      <p:pic>
        <p:nvPicPr>
          <p:cNvPr id="150" name="Google Shape;15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562225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56222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562225"/>
            <a:ext cx="485775" cy="42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875" y="2138362"/>
            <a:ext cx="28257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83174" y="2138362"/>
            <a:ext cx="2825799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61474" y="2138362"/>
            <a:ext cx="2825799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F99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SEAMLESS RESOURCE INTEGRATION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834230" y="4233862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CloudFront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904875" y="4767262"/>
            <a:ext cx="282579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Filtering traffic at the Edge locations globally.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4612529" y="4233862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ALB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4683174" y="4767262"/>
            <a:ext cx="282579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Protecting applications within specific regions.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390829" y="4233862"/>
            <a:ext cx="296708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API Gateway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461474" y="4767262"/>
            <a:ext cx="2825799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Securing REST and WebSocket endpoints.</a:t>
            </a:r>
            <a:endParaRPr/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147887"/>
            <a:ext cx="2806749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147887"/>
            <a:ext cx="2806749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70999" y="2147887"/>
            <a:ext cx="2806749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4250"/>
            <a:ext cx="5286375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719262"/>
            <a:ext cx="5286375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967162"/>
            <a:ext cx="5286375" cy="205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F99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AWS MANAGED RULES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2371725"/>
            <a:ext cx="52863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Managed Rule Groups are maintained by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AWS Security Experts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Marketplace sellers, offering "set and forget" protection.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914400" y="3867150"/>
            <a:ext cx="483060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Rule Set (CRS)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914400" y="4400550"/>
            <a:ext cx="46005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Protection against a wide range of common vulnerabilities (OWASP).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6677025" y="2062162"/>
            <a:ext cx="483060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IP Reputation Lists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6677025" y="2595562"/>
            <a:ext cx="46005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Leverages Amazon’s global threat intelligence to block known malicious actors and bots.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6677025" y="4310062"/>
            <a:ext cx="483060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Admin Protection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677025" y="4843462"/>
            <a:ext cx="46005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Locks down access to sensitive paths like /admin or /login.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F99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WEB REQUEST ACTIONS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571500" y="2205037"/>
            <a:ext cx="11049000" cy="3333750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4" name="Google Shape;194;p21"/>
          <p:cNvGraphicFramePr/>
          <p:nvPr/>
        </p:nvGraphicFramePr>
        <p:xfrm>
          <a:off x="571500" y="220503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{9F860F1A-D477-4B21-8423-07AC42740DE4}</a:tableStyleId>
              </a:tblPr>
              <a:tblGrid>
                <a:gridCol w="1502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99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99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99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Typical Use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Allow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Request is forwarded to the resource.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Traffic from trusted IPs or safe paths.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Block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Terminates the request with 403 Forbidden.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Confirmed malicious patterns (XSS, SQLi).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Count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Logs the request without affecting flow.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Testing new rules before production.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CAPTCHA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Challenges user with a puzzle.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Mitigating suspicious bot behavior.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5" name="Google Shape;195;p21"/>
          <p:cNvSpPr/>
          <p:nvPr/>
        </p:nvSpPr>
        <p:spPr>
          <a:xfrm>
            <a:off x="571500" y="2895600"/>
            <a:ext cx="15022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2073771" y="2895600"/>
            <a:ext cx="48619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6935688" y="2895600"/>
            <a:ext cx="46848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71500" y="3552825"/>
            <a:ext cx="15022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2073771" y="3552825"/>
            <a:ext cx="48619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6935688" y="3552825"/>
            <a:ext cx="46848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71500" y="4210050"/>
            <a:ext cx="15022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2073771" y="4210050"/>
            <a:ext cx="48619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935688" y="4210050"/>
            <a:ext cx="46848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571500" y="4867275"/>
            <a:ext cx="15022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2073771" y="4867275"/>
            <a:ext cx="48619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935688" y="4867275"/>
            <a:ext cx="46848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71500" y="5524500"/>
            <a:ext cx="150227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2073771" y="5524500"/>
            <a:ext cx="486191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6935688" y="5524500"/>
            <a:ext cx="468481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09787"/>
            <a:ext cx="11049000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F99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MONITORING &amp; REAL-TIME VISIBILITY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2800350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Visibility is provided through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CloudWatch Metrics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and detailed logging to S3 or Kinesis Firehose.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1000125" y="3638550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Track request counts and error rates.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1000125" y="4143375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Inspect sampled requests to see rule matches.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000125" y="4648200"/>
            <a:ext cx="48577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Integrate with SIEM for deeper analysis.</a:t>
            </a:r>
            <a:endParaRPr/>
          </a:p>
        </p:txBody>
      </p:sp>
      <p:pic>
        <p:nvPicPr>
          <p:cNvPr id="221" name="Google Shape;22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6385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1433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64820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3519487"/>
            <a:ext cx="5286375" cy="2047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F99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INTELLIGENT BOT CONTROL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571500" y="3067050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FF9900"/>
                </a:solidFill>
                <a:latin typeface="Urbanist"/>
                <a:ea typeface="Urbanist"/>
                <a:cs typeface="Urbanist"/>
                <a:sym typeface="Urbanist"/>
              </a:rPr>
              <a:t>100%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571500" y="4400550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AUTOMATION INSPECTION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6334125" y="2176462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Defeating Automated Threats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6334125" y="2605087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AWS WAF Bot Control uses machine learning to identify and categorize automated traffic in real-time.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6677025" y="4071937"/>
            <a:ext cx="460057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Allows "Good Bots" (Search Engines) while blocking "Bad Bots" (Scrapers, credential stuffers).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F99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WAF PRICING FUNDAMENTALS</a:t>
            </a:r>
            <a:endParaRPr/>
          </a:p>
        </p:txBody>
      </p:sp>
      <p:sp>
        <p:nvSpPr>
          <p:cNvPr id="242" name="Google Shape;242;p24"/>
          <p:cNvSpPr/>
          <p:nvPr/>
        </p:nvSpPr>
        <p:spPr>
          <a:xfrm>
            <a:off x="571500" y="1847850"/>
            <a:ext cx="11049000" cy="3333750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" name="Google Shape;243;p24"/>
          <p:cNvGraphicFramePr/>
          <p:nvPr/>
        </p:nvGraphicFramePr>
        <p:xfrm>
          <a:off x="571500" y="184785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{9F860F1A-D477-4B21-8423-07AC42740DE4}</a:tableStyleId>
              </a:tblPr>
              <a:tblGrid>
                <a:gridCol w="263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4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99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Component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99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Standard Price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99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Detail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 ACLs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$5.00 per month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 Web ACL per month.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Rules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$1.00 per month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Per rule added to a Web ACL.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Requests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$0.60 per million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Volume-based processing fee.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Managed Rules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Variable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AWS Marketplace fees may apply.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4" name="Google Shape;244;p24"/>
          <p:cNvSpPr txBox="1"/>
          <p:nvPr/>
        </p:nvSpPr>
        <p:spPr>
          <a:xfrm>
            <a:off x="571500" y="53721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*Pricing is per region and varies for CloudFront (Global).</a:t>
            </a:r>
            <a:endParaRPr/>
          </a:p>
        </p:txBody>
      </p:sp>
      <p:sp>
        <p:nvSpPr>
          <p:cNvPr id="245" name="Google Shape;245;p24"/>
          <p:cNvSpPr/>
          <p:nvPr/>
        </p:nvSpPr>
        <p:spPr>
          <a:xfrm>
            <a:off x="571500" y="2538412"/>
            <a:ext cx="26378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3209329" y="2538412"/>
            <a:ext cx="3314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6524029" y="2538412"/>
            <a:ext cx="50964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571500" y="3195637"/>
            <a:ext cx="26378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3209329" y="3195637"/>
            <a:ext cx="3314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6524029" y="3195637"/>
            <a:ext cx="50964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571500" y="3852862"/>
            <a:ext cx="26378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3209329" y="3852862"/>
            <a:ext cx="3314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6524029" y="3852862"/>
            <a:ext cx="50964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71500" y="4510087"/>
            <a:ext cx="26378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3209329" y="4510087"/>
            <a:ext cx="3314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6524029" y="4510087"/>
            <a:ext cx="50964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571500" y="5167312"/>
            <a:ext cx="263782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3209329" y="5167312"/>
            <a:ext cx="3314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6524029" y="5167312"/>
            <a:ext cx="509647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F99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BEST PRACTICES FOR SUCCESS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1000125" y="2609850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Start in Count Mode: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Observe how rules affect traffic without blocking legitimate users.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1000125" y="3114675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Layered Defense: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 WAF alongside AWS Shield (DDoS) and AWS Firewall Manager.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000125" y="3619500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Automation: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 Infrastructure as Code (Terraform/CDK) to manage Web ACLs.</a:t>
            </a:r>
            <a:endParaRPr/>
          </a:p>
        </p:txBody>
      </p:sp>
      <p:sp>
        <p:nvSpPr>
          <p:cNvPr id="269" name="Google Shape;269;p25"/>
          <p:cNvSpPr txBox="1"/>
          <p:nvPr/>
        </p:nvSpPr>
        <p:spPr>
          <a:xfrm>
            <a:off x="1000125" y="4124325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Rule Optimization: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Monitor WCU (Web ACL Capacity Units) to ensure you stay within limits.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000125" y="4629150"/>
            <a:ext cx="106203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Regular Audits: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Review logs for false positives and adjust regex patterns accordingly.</a:t>
            </a:r>
            <a:endParaRPr/>
          </a:p>
        </p:txBody>
      </p:sp>
      <p:pic>
        <p:nvPicPr>
          <p:cNvPr id="271" name="Google Shape;27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098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146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6195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1243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2915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6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F9900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UNIFIED SECURITY STACK</a:t>
            </a:r>
            <a:endParaRPr/>
          </a:p>
        </p:txBody>
      </p:sp>
      <p:pic>
        <p:nvPicPr>
          <p:cNvPr id="282" name="Google Shape;28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85937" y="2443162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6334125" y="2419350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Shield Strategy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6334125" y="2847975"/>
            <a:ext cx="528637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AWS WAF works best as part of a holistic security strategy: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6762750" y="368617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AWS Shield (70%):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Absorbs high-volume DDoS attacks at Layers 3/4.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6762750" y="4505325"/>
            <a:ext cx="48577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AWS WAF (30%):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Filters nuanced application exploits at Layer 7.</a:t>
            </a:r>
            <a:endParaRPr/>
          </a:p>
        </p:txBody>
      </p:sp>
      <p:pic>
        <p:nvPicPr>
          <p:cNvPr id="287" name="Google Shape;28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6861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505325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Office PowerPoint</Application>
  <PresentationFormat>Widescreen</PresentationFormat>
  <Paragraphs>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Urbanist SemiBold</vt:lpstr>
      <vt:lpstr>Calibri</vt:lpstr>
      <vt:lpstr>Arial</vt:lpstr>
      <vt:lpstr>Inter Light</vt:lpstr>
      <vt:lpstr>Urbanist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naseroddin baba</cp:lastModifiedBy>
  <cp:revision>1</cp:revision>
  <dcterms:modified xsi:type="dcterms:W3CDTF">2026-03-18T06:47:14Z</dcterms:modified>
</cp:coreProperties>
</file>